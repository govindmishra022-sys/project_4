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71" r:id="rId1"/>
  </p:sldMasterIdLst>
  <p:sldIdLst>
    <p:sldId id="256" r:id="rId2"/>
    <p:sldId id="273" r:id="rId3"/>
    <p:sldId id="257" r:id="rId4"/>
    <p:sldId id="258" r:id="rId5"/>
    <p:sldId id="260" r:id="rId6"/>
    <p:sldId id="261" r:id="rId7"/>
    <p:sldId id="264" r:id="rId8"/>
    <p:sldId id="265" r:id="rId9"/>
    <p:sldId id="267" r:id="rId10"/>
    <p:sldId id="268" r:id="rId11"/>
    <p:sldId id="271" r:id="rId12"/>
    <p:sldId id="272" r:id="rId13"/>
    <p:sldId id="276" r:id="rId14"/>
    <p:sldId id="275" r:id="rId15"/>
    <p:sldId id="274" r:id="rId16"/>
    <p:sldId id="277" r:id="rId17"/>
    <p:sldId id="279" r:id="rId18"/>
    <p:sldId id="280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82" autoAdjust="0"/>
    <p:restoredTop sz="94660"/>
  </p:normalViewPr>
  <p:slideViewPr>
    <p:cSldViewPr snapToGrid="0">
      <p:cViewPr varScale="1">
        <p:scale>
          <a:sx n="73" d="100"/>
          <a:sy n="73" d="100"/>
        </p:scale>
        <p:origin x="68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726ED139-0480-4198-83E2-68CE0B25BC9B}" type="datetimeFigureOut">
              <a:rPr lang="en-US" smtClean="0"/>
              <a:t>05/07/2026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684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2BD47-5F5E-4508-9DFC-0021F20B392D}" type="datetimeFigureOut">
              <a:rPr lang="en-US" smtClean="0"/>
              <a:t>05/07/2026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428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B23E3-326B-4424-9A50-2CBB9CA4B2E5}" type="datetimeFigureOut">
              <a:rPr lang="en-US" smtClean="0"/>
              <a:t>05/07/2026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6627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09F6F-C437-48B6-80BB-8E50899C06AF}" type="datetimeFigureOut">
              <a:rPr lang="en-US" smtClean="0"/>
              <a:t>05/07/2026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14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76D14-B85F-4865-804C-5734F9C85CDD}" type="datetimeFigureOut">
              <a:rPr lang="en-US" smtClean="0"/>
              <a:t>05/07/2026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211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56C38-6601-4688-9146-5E61D8B04598}" type="datetimeFigureOut">
              <a:rPr lang="en-US" smtClean="0"/>
              <a:t>05/07/2026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033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6061E-CDAE-49E3-92CB-288B639C3B6F}" type="datetimeFigureOut">
              <a:rPr lang="en-US" smtClean="0"/>
              <a:t>05/07/2026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483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E9851-4767-4B63-B36B-F772D06043F2}" type="datetimeFigureOut">
              <a:rPr lang="en-US" smtClean="0"/>
              <a:t>05/07/2026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35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7309A586-BE94-448D-BAE3-D5D323B9149F}" type="datetimeFigureOut">
              <a:rPr lang="en-US" smtClean="0"/>
              <a:t>05/07/2026</a:t>
            </a:fld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4188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7CE23-3B6A-482C-9BEA-F32A9EB44C40}" type="datetimeFigureOut">
              <a:rPr lang="en-US" smtClean="0"/>
              <a:t>05/07/2026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751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9C8FD-9717-4D78-9D01-4CBD0AC8CAE0}" type="datetimeFigureOut">
              <a:rPr lang="en-US" smtClean="0"/>
              <a:t>05/07/2026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093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ADDEAF24-54CC-4408-99B3-A70A172EFF44}" type="datetimeFigureOut">
              <a:rPr lang="en-US" smtClean="0"/>
              <a:t>05/07/2026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943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2" r:id="rId1"/>
    <p:sldLayoutId id="2147483973" r:id="rId2"/>
    <p:sldLayoutId id="2147483974" r:id="rId3"/>
    <p:sldLayoutId id="2147483975" r:id="rId4"/>
    <p:sldLayoutId id="2147483976" r:id="rId5"/>
    <p:sldLayoutId id="2147483977" r:id="rId6"/>
    <p:sldLayoutId id="2147483978" r:id="rId7"/>
    <p:sldLayoutId id="2147483979" r:id="rId8"/>
    <p:sldLayoutId id="2147483980" r:id="rId9"/>
    <p:sldLayoutId id="2147483981" r:id="rId10"/>
    <p:sldLayoutId id="2147483982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1776549"/>
            <a:ext cx="9676965" cy="2346718"/>
          </a:xfrm>
        </p:spPr>
        <p:txBody>
          <a:bodyPr/>
          <a:lstStyle/>
          <a:p>
            <a:r>
              <a:rPr lang="en-US" sz="6500" b="1" dirty="0"/>
              <a:t>EDA  and Price Predicting ML model for Mobile Phones</a:t>
            </a:r>
            <a:endParaRPr lang="en-US" sz="65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2128610"/>
          </a:xfrm>
        </p:spPr>
        <p:txBody>
          <a:bodyPr>
            <a:normAutofit fontScale="25000" lnSpcReduction="20000"/>
          </a:bodyPr>
          <a:lstStyle/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en-US" sz="8000" b="1" dirty="0">
                <a:solidFill>
                  <a:schemeClr val="bg2"/>
                </a:solidFill>
                <a:latin typeface="Urbanist"/>
                <a:ea typeface="Urbanist"/>
                <a:cs typeface="Urbanist"/>
                <a:sym typeface="Urbanist"/>
              </a:rPr>
              <a:t>A Comprehensive Machine Learning Framework covering Advanced Feature Extraction, Label Encoding, EDA, and Feature Performance Analysis</a:t>
            </a:r>
          </a:p>
          <a:p>
            <a: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schemeClr val="accent5">
                  <a:lumMod val="75000"/>
                </a:schemeClr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</a:pPr>
            <a:endParaRPr lang="en-US" dirty="0">
              <a:solidFill>
                <a:schemeClr val="tx1"/>
              </a:solidFill>
              <a:latin typeface="Urbanist"/>
              <a:ea typeface="Urbanist"/>
              <a:cs typeface="Urbanist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</a:pPr>
            <a:endParaRPr lang="en-US" sz="9600" dirty="0" smtClean="0">
              <a:solidFill>
                <a:schemeClr val="bg2"/>
              </a:solidFill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en-US" sz="9600" b="1" dirty="0" smtClean="0">
                <a:solidFill>
                  <a:schemeClr val="tx2"/>
                </a:solidFill>
              </a:rPr>
              <a:t>Presented  </a:t>
            </a:r>
            <a:r>
              <a:rPr lang="en-US" sz="9600" b="1" dirty="0">
                <a:solidFill>
                  <a:schemeClr val="tx2"/>
                </a:solidFill>
              </a:rPr>
              <a:t>by: Govind Mishra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46082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8051" y="452239"/>
            <a:ext cx="8839091" cy="924319"/>
          </a:xfrm>
        </p:spPr>
        <p:txBody>
          <a:bodyPr>
            <a:noAutofit/>
          </a:bodyPr>
          <a:lstStyle/>
          <a:p>
            <a:r>
              <a:rPr lang="en-US" sz="5500" b="1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</a:rPr>
              <a:t>Executive Project </a:t>
            </a:r>
            <a:r>
              <a:rPr lang="en-US" sz="5500" b="1" dirty="0" smtClean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</a:rPr>
              <a:t>Overview</a:t>
            </a:r>
            <a:endParaRPr lang="en-US" sz="5500" b="1" dirty="0">
              <a:solidFill>
                <a:schemeClr val="accent1">
                  <a:lumMod val="75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8051" y="1254034"/>
            <a:ext cx="10753725" cy="5264331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pPr marL="0" indent="0">
              <a:lnSpc>
                <a:spcPct val="95000"/>
              </a:lnSpc>
              <a:spcBef>
                <a:spcPct val="0"/>
              </a:spcBef>
              <a:spcAft>
                <a:spcPts val="1400"/>
              </a:spcAft>
              <a:buNone/>
              <a:defRPr sz="1800">
                <a:latin typeface="Inter"/>
              </a:defRPr>
            </a:pPr>
            <a:r>
              <a:rPr lang="en-US" sz="3900" b="1" spc="-120" dirty="0">
                <a:solidFill>
                  <a:schemeClr val="bg1">
                    <a:lumMod val="50000"/>
                  </a:schemeClr>
                </a:solidFill>
                <a:latin typeface="Inter"/>
              </a:rPr>
              <a:t>Object</a:t>
            </a:r>
            <a:r>
              <a:rPr lang="en-US" sz="3900" b="1" spc="-120" dirty="0" smtClean="0">
                <a:solidFill>
                  <a:schemeClr val="bg1">
                    <a:lumMod val="50000"/>
                  </a:schemeClr>
                </a:solidFill>
                <a:latin typeface="Inter"/>
              </a:rPr>
              <a:t>:</a:t>
            </a:r>
            <a:endParaRPr lang="en-US" b="1" dirty="0" smtClean="0"/>
          </a:p>
          <a:p>
            <a:r>
              <a:rPr lang="en-US" sz="2200" dirty="0">
                <a:solidFill>
                  <a:schemeClr val="bg1">
                    <a:lumMod val="50000"/>
                  </a:schemeClr>
                </a:solidFill>
                <a:latin typeface="Inter"/>
              </a:rPr>
              <a:t>The primary goal is to build a robust predictive model to estimate mobile phone prices based on hardware specifications, brand positioning, and engineered quality scores.</a:t>
            </a:r>
          </a:p>
          <a:p>
            <a:endParaRPr lang="en-US" b="1" dirty="0" smtClean="0"/>
          </a:p>
          <a:p>
            <a:pPr marL="0" indent="0">
              <a:lnSpc>
                <a:spcPct val="95000"/>
              </a:lnSpc>
              <a:spcBef>
                <a:spcPct val="0"/>
              </a:spcBef>
              <a:spcAft>
                <a:spcPts val="1400"/>
              </a:spcAft>
              <a:buNone/>
              <a:defRPr sz="1800">
                <a:latin typeface="Inter"/>
              </a:defRPr>
            </a:pPr>
            <a:r>
              <a:rPr lang="en-US" sz="3900" b="1" spc="-120" dirty="0">
                <a:solidFill>
                  <a:schemeClr val="bg1">
                    <a:lumMod val="50000"/>
                  </a:schemeClr>
                </a:solidFill>
                <a:latin typeface="Inter"/>
              </a:rPr>
              <a:t>Key Deliverables</a:t>
            </a:r>
            <a:r>
              <a:rPr lang="en-US" sz="3900" b="1" spc="-120" dirty="0" smtClean="0">
                <a:solidFill>
                  <a:schemeClr val="bg1">
                    <a:lumMod val="50000"/>
                  </a:schemeClr>
                </a:solidFill>
                <a:latin typeface="Inter"/>
              </a:rPr>
              <a:t>:</a:t>
            </a:r>
            <a:endParaRPr lang="en-US" b="1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sz="2200" dirty="0" smtClean="0">
                <a:solidFill>
                  <a:schemeClr val="bg1">
                    <a:lumMod val="50000"/>
                  </a:schemeClr>
                </a:solidFill>
                <a:latin typeface="Inter"/>
              </a:rPr>
              <a:t>  </a:t>
            </a:r>
            <a:r>
              <a:rPr lang="en-US" sz="2200" dirty="0">
                <a:solidFill>
                  <a:schemeClr val="bg1">
                    <a:lumMod val="50000"/>
                  </a:schemeClr>
                </a:solidFill>
                <a:latin typeface="Inter"/>
              </a:rPr>
              <a:t>Data cleaning of unstructured brand names.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200" dirty="0" smtClean="0">
                <a:solidFill>
                  <a:schemeClr val="bg1">
                    <a:lumMod val="50000"/>
                  </a:schemeClr>
                </a:solidFill>
                <a:latin typeface="Inter"/>
              </a:rPr>
              <a:t>  Feature </a:t>
            </a:r>
            <a:r>
              <a:rPr lang="en-US" sz="2200" dirty="0">
                <a:solidFill>
                  <a:schemeClr val="bg1">
                    <a:lumMod val="50000"/>
                  </a:schemeClr>
                </a:solidFill>
                <a:latin typeface="Inter"/>
              </a:rPr>
              <a:t>extraction for processors and colors.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200" dirty="0" smtClean="0">
                <a:solidFill>
                  <a:schemeClr val="bg1">
                    <a:lumMod val="50000"/>
                  </a:schemeClr>
                </a:solidFill>
                <a:latin typeface="Inter"/>
              </a:rPr>
              <a:t>  Statistical </a:t>
            </a:r>
            <a:r>
              <a:rPr lang="en-US" sz="2200" dirty="0">
                <a:solidFill>
                  <a:schemeClr val="bg1">
                    <a:lumMod val="50000"/>
                  </a:schemeClr>
                </a:solidFill>
                <a:latin typeface="Inter"/>
              </a:rPr>
              <a:t>univariate ,bivariate &amp; Multivariate   EDA.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200" dirty="0" smtClean="0">
                <a:solidFill>
                  <a:schemeClr val="bg1">
                    <a:lumMod val="50000"/>
                  </a:schemeClr>
                </a:solidFill>
                <a:latin typeface="Inter"/>
              </a:rPr>
              <a:t>  Model </a:t>
            </a:r>
            <a:r>
              <a:rPr lang="en-US" sz="2200" dirty="0">
                <a:solidFill>
                  <a:schemeClr val="bg1">
                    <a:lumMod val="50000"/>
                  </a:schemeClr>
                </a:solidFill>
                <a:latin typeface="Inter"/>
              </a:rPr>
              <a:t>training to predict phone </a:t>
            </a:r>
            <a:r>
              <a:rPr lang="en-US" sz="2200" dirty="0" smtClean="0">
                <a:solidFill>
                  <a:schemeClr val="bg1">
                    <a:lumMod val="50000"/>
                  </a:schemeClr>
                </a:solidFill>
                <a:latin typeface="Inter"/>
              </a:rPr>
              <a:t>price.</a:t>
            </a:r>
            <a:endParaRPr lang="en-US" sz="2200" dirty="0">
              <a:solidFill>
                <a:schemeClr val="bg1">
                  <a:lumMod val="50000"/>
                </a:schemeClr>
              </a:solidFill>
              <a:latin typeface="Inter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0550" cy="6858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1450" y="0"/>
            <a:ext cx="5905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892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69539"/>
            <a:ext cx="6992983" cy="1397000"/>
          </a:xfrm>
        </p:spPr>
        <p:txBody>
          <a:bodyPr/>
          <a:lstStyle/>
          <a:p>
            <a:r>
              <a:rPr lang="en-US" sz="4500" b="1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</a:rPr>
              <a:t>1. Executive Introduction &amp;   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1545" y="1430657"/>
            <a:ext cx="4238172" cy="444518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2">
                    <a:lumMod val="50000"/>
                  </a:schemeClr>
                </a:solidFill>
              </a:rPr>
              <a:t>Dataset Scope: </a:t>
            </a:r>
            <a:endParaRPr lang="en-US" sz="3600" b="1" dirty="0" smtClean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n-US" sz="2400" dirty="0">
                <a:solidFill>
                  <a:schemeClr val="tx2">
                    <a:lumMod val="50000"/>
                  </a:schemeClr>
                </a:solidFill>
                <a:latin typeface="Bahnschrift Light Condensed" panose="020B0502040204020203" pitchFamily="34" charset="0"/>
              </a:rPr>
              <a:t>Catalogs a range of mobile phone models with diverse specifications and price levels</a:t>
            </a:r>
            <a:r>
              <a:rPr lang="en-US" sz="2400" dirty="0" smtClean="0">
                <a:solidFill>
                  <a:schemeClr val="tx2">
                    <a:lumMod val="50000"/>
                  </a:schemeClr>
                </a:solidFill>
                <a:latin typeface="Bahnschrift Light Condensed" panose="020B0502040204020203" pitchFamily="34" charset="0"/>
              </a:rPr>
              <a:t>.</a:t>
            </a:r>
            <a:endParaRPr lang="en-US" sz="2400" dirty="0">
              <a:solidFill>
                <a:schemeClr val="tx2">
                  <a:lumMod val="50000"/>
                </a:schemeClr>
              </a:solidFill>
              <a:latin typeface="Bahnschrift Light Condensed" panose="020B0502040204020203" pitchFamily="34" charset="0"/>
            </a:endParaRPr>
          </a:p>
          <a:p>
            <a:endParaRPr lang="en-US" dirty="0" smtClean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Dataset </a:t>
            </a:r>
            <a:r>
              <a:rPr lang="en-US" b="1" dirty="0" smtClean="0">
                <a:solidFill>
                  <a:schemeClr val="tx2">
                    <a:lumMod val="50000"/>
                  </a:schemeClr>
                </a:solidFill>
              </a:rPr>
              <a:t>Inventry</a:t>
            </a:r>
            <a:endParaRPr lang="en-US"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n-US" sz="2400" dirty="0">
                <a:solidFill>
                  <a:schemeClr val="tx2">
                    <a:lumMod val="50000"/>
                  </a:schemeClr>
                </a:solidFill>
                <a:latin typeface="Bahnschrift Light Condensed" panose="020B0502040204020203" pitchFamily="34" charset="0"/>
              </a:rPr>
              <a:t>Shape: 541 </a:t>
            </a:r>
            <a:r>
              <a:rPr lang="en-US" sz="2400" dirty="0" smtClean="0">
                <a:solidFill>
                  <a:schemeClr val="tx2">
                    <a:lumMod val="50000"/>
                  </a:schemeClr>
                </a:solidFill>
                <a:latin typeface="Bahnschrift Light Condensed" panose="020B0502040204020203" pitchFamily="34" charset="0"/>
              </a:rPr>
              <a:t>instances,11features</a:t>
            </a:r>
            <a:endParaRPr lang="en-US" sz="2400" dirty="0">
              <a:solidFill>
                <a:schemeClr val="tx2">
                  <a:lumMod val="50000"/>
                </a:schemeClr>
              </a:solidFill>
              <a:latin typeface="Bahnschrift Light Condensed" panose="020B0502040204020203" pitchFamily="34" charset="0"/>
            </a:endParaRPr>
          </a:p>
          <a:p>
            <a:r>
              <a:rPr lang="en-US" sz="2400" dirty="0">
                <a:solidFill>
                  <a:schemeClr val="tx2">
                    <a:lumMod val="50000"/>
                  </a:schemeClr>
                </a:solidFill>
                <a:latin typeface="Bahnschrift Light Condensed" panose="020B0502040204020203" pitchFamily="34" charset="0"/>
              </a:rPr>
              <a:t>Quality: no null values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199" y="2257393"/>
            <a:ext cx="6992983" cy="4019616"/>
          </a:xfrm>
        </p:spPr>
        <p:txBody>
          <a:bodyPr>
            <a:norm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  <a:spcAft>
                <a:spcPts val="1400"/>
              </a:spcAft>
              <a:defRPr sz="1800">
                <a:latin typeface="Inter"/>
              </a:defRPr>
            </a:pPr>
            <a:r>
              <a:rPr lang="en-US" sz="3600" spc="-120" dirty="0">
                <a:solidFill>
                  <a:schemeClr val="bg1">
                    <a:lumMod val="50000"/>
                  </a:schemeClr>
                </a:solidFill>
              </a:rPr>
              <a:t>Data Cleaning Steps:</a:t>
            </a:r>
          </a:p>
          <a:p>
            <a:pPr marL="457200" indent="-457200">
              <a:spcAft>
                <a:spcPts val="1400"/>
              </a:spcAft>
              <a:buFont typeface="Wingdings" panose="05000000000000000000" pitchFamily="2" charset="2"/>
              <a:buChar char="ü"/>
              <a:defRPr sz="1800">
                <a:latin typeface="Inter"/>
              </a:defRPr>
            </a:pPr>
            <a:r>
              <a:rPr lang="en-US" sz="1900" dirty="0" smtClean="0">
                <a:solidFill>
                  <a:schemeClr val="bg1">
                    <a:lumMod val="50000"/>
                  </a:schemeClr>
                </a:solidFill>
              </a:rPr>
              <a:t>Deduped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</a:rPr>
              <a:t>indexing artifacts and removed model duplicate entries to ensure catalog </a:t>
            </a:r>
            <a:r>
              <a:rPr lang="en-US" sz="1900" dirty="0" smtClean="0">
                <a:solidFill>
                  <a:schemeClr val="bg1">
                    <a:lumMod val="50000"/>
                  </a:schemeClr>
                </a:solidFill>
              </a:rPr>
              <a:t>integrity.</a:t>
            </a:r>
          </a:p>
          <a:p>
            <a:pPr marL="457200" indent="-457200">
              <a:spcAft>
                <a:spcPts val="1400"/>
              </a:spcAft>
              <a:buFont typeface="Wingdings" panose="05000000000000000000" pitchFamily="2" charset="2"/>
              <a:buChar char="ü"/>
              <a:defRPr sz="1800">
                <a:latin typeface="Inter"/>
              </a:defRPr>
            </a:pPr>
            <a:r>
              <a:rPr lang="en-US" sz="1900" dirty="0" smtClean="0">
                <a:solidFill>
                  <a:schemeClr val="bg1">
                    <a:lumMod val="50000"/>
                  </a:schemeClr>
                </a:solidFill>
              </a:rPr>
              <a:t> Standardized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</a:rPr>
              <a:t>manufacturer names (e.g. unifying brand casings and replacing aliases).</a:t>
            </a:r>
          </a:p>
          <a:p>
            <a:pPr marL="457200" indent="-457200">
              <a:spcAft>
                <a:spcPts val="1400"/>
              </a:spcAft>
              <a:buFont typeface="Wingdings" panose="05000000000000000000" pitchFamily="2" charset="2"/>
              <a:buChar char="ü"/>
              <a:defRPr sz="1800">
                <a:latin typeface="Inter"/>
              </a:defRPr>
            </a:pPr>
            <a:r>
              <a:rPr lang="en-US" sz="1900" dirty="0" smtClean="0">
                <a:solidFill>
                  <a:schemeClr val="bg1">
                    <a:lumMod val="50000"/>
                  </a:schemeClr>
                </a:solidFill>
              </a:rPr>
              <a:t>Renamed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</a:rPr>
              <a:t>raw target column 'Prize' to standard 'Price' (INR) and converted strings to floats.</a:t>
            </a:r>
          </a:p>
          <a:p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300446" y="3039293"/>
            <a:ext cx="6923314" cy="12279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3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7472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5421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144" y="274321"/>
            <a:ext cx="7184999" cy="1293224"/>
          </a:xfrm>
        </p:spPr>
        <p:txBody>
          <a:bodyPr/>
          <a:lstStyle/>
          <a:p>
            <a:r>
              <a:rPr lang="en-US" sz="5400" b="1" dirty="0" smtClean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</a:rPr>
              <a:t>2. Feature Extraction &amp;           Engineering</a:t>
            </a:r>
            <a:endParaRPr lang="en-US" sz="5400" b="1" dirty="0">
              <a:solidFill>
                <a:schemeClr val="accent1">
                  <a:lumMod val="75000"/>
                </a:schemeClr>
              </a:solidFill>
              <a:latin typeface="Bahnschrift" panose="020B0502040204020203" pitchFamily="34" charset="0"/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0767071"/>
              </p:ext>
            </p:extLst>
          </p:nvPr>
        </p:nvGraphicFramePr>
        <p:xfrm>
          <a:off x="326143" y="2116138"/>
          <a:ext cx="7052556" cy="40814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350852">
                  <a:extLst>
                    <a:ext uri="{9D8B030D-6E8A-4147-A177-3AD203B41FA5}">
                      <a16:colId xmlns:a16="http://schemas.microsoft.com/office/drawing/2014/main" val="3088624141"/>
                    </a:ext>
                  </a:extLst>
                </a:gridCol>
                <a:gridCol w="2350852">
                  <a:extLst>
                    <a:ext uri="{9D8B030D-6E8A-4147-A177-3AD203B41FA5}">
                      <a16:colId xmlns:a16="http://schemas.microsoft.com/office/drawing/2014/main" val="2884452445"/>
                    </a:ext>
                  </a:extLst>
                </a:gridCol>
                <a:gridCol w="2350852">
                  <a:extLst>
                    <a:ext uri="{9D8B030D-6E8A-4147-A177-3AD203B41FA5}">
                      <a16:colId xmlns:a16="http://schemas.microsoft.com/office/drawing/2014/main" val="2724216942"/>
                    </a:ext>
                  </a:extLst>
                </a:gridCol>
              </a:tblGrid>
              <a:tr h="647710">
                <a:tc>
                  <a:txBody>
                    <a:bodyPr/>
                    <a:lstStyle/>
                    <a:p>
                      <a:pPr>
                        <a:defRPr sz="1200" b="1">
                          <a:latin typeface="Outfit"/>
                        </a:defRPr>
                      </a:pPr>
                      <a:r>
                        <a:rPr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Outfit"/>
                        </a:defRPr>
                      </a:pPr>
                      <a:r>
                        <a:t>Formula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Outfit"/>
                        </a:defRPr>
                      </a:pPr>
                      <a:r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395568"/>
                  </a:ext>
                </a:extLst>
              </a:tr>
              <a:tr h="745310">
                <a:tc>
                  <a:txBody>
                    <a:bodyPr/>
                    <a:lstStyle/>
                    <a:p>
                      <a:pPr>
                        <a:defRPr sz="1100">
                          <a:latin typeface="Inter"/>
                        </a:defRPr>
                      </a:pPr>
                      <a:r>
                        <a:rPr sz="1500" dirty="0"/>
                        <a:t>Hardware_Score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Inter"/>
                        </a:defRPr>
                      </a:pPr>
                      <a:r>
                        <a:rPr sz="1500"/>
                        <a:t>Memory * RAM * (Battery / 1000)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Inter"/>
                        </a:defRPr>
                      </a:pPr>
                      <a:r>
                        <a:rPr sz="1500"/>
                        <a:t>Combined hardware level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4704789"/>
                  </a:ext>
                </a:extLst>
              </a:tr>
              <a:tr h="745310">
                <a:tc>
                  <a:txBody>
                    <a:bodyPr/>
                    <a:lstStyle/>
                    <a:p>
                      <a:pPr>
                        <a:defRPr sz="1100">
                          <a:latin typeface="Inter"/>
                        </a:defRPr>
                      </a:pPr>
                      <a:r>
                        <a:rPr sz="1500" dirty="0"/>
                        <a:t>Camera_Total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Inter"/>
                        </a:defRPr>
                      </a:pPr>
                      <a:r>
                        <a:rPr sz="1500"/>
                        <a:t>Rear_Camera + Front_Camera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Inter"/>
                        </a:defRPr>
                      </a:pPr>
                      <a:r>
                        <a:rPr sz="1500"/>
                        <a:t>Imaging capability index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009886"/>
                  </a:ext>
                </a:extLst>
              </a:tr>
              <a:tr h="647710">
                <a:tc>
                  <a:txBody>
                    <a:bodyPr/>
                    <a:lstStyle/>
                    <a:p>
                      <a:pPr>
                        <a:defRPr sz="1100">
                          <a:latin typeface="Inter"/>
                        </a:defRPr>
                      </a:pPr>
                      <a:r>
                        <a:rPr sz="1500"/>
                        <a:t>RAM_to_Mem_Ratio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Inter"/>
                        </a:defRPr>
                      </a:pPr>
                      <a:r>
                        <a:rPr sz="1500"/>
                        <a:t>RAM /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Inter"/>
                        </a:defRPr>
                      </a:pPr>
                      <a:r>
                        <a:rPr sz="1500"/>
                        <a:t>Spec balancing index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3508749"/>
                  </a:ext>
                </a:extLst>
              </a:tr>
              <a:tr h="647710">
                <a:tc>
                  <a:txBody>
                    <a:bodyPr/>
                    <a:lstStyle/>
                    <a:p>
                      <a:pPr>
                        <a:defRPr sz="1100">
                          <a:latin typeface="Inter"/>
                        </a:defRPr>
                      </a:pPr>
                      <a:r>
                        <a:rPr sz="1500"/>
                        <a:t>Memory_Category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Inter"/>
                        </a:defRPr>
                      </a:pPr>
                      <a:r>
                        <a:rPr sz="1500"/>
                        <a:t>Binned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Inter"/>
                        </a:defRPr>
                      </a:pPr>
                      <a:r>
                        <a:rPr sz="1500"/>
                        <a:t>Discrete storage levels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9096619"/>
                  </a:ext>
                </a:extLst>
              </a:tr>
              <a:tr h="64771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4E79"/>
                          </a:solidFill>
                          <a:latin typeface="Inter"/>
                        </a:defRPr>
                      </a:pPr>
                      <a:r>
                        <a:rPr sz="1500" b="0">
                          <a:solidFill>
                            <a:schemeClr val="tx1"/>
                          </a:solidFill>
                        </a:rPr>
                        <a:t>RAM_Category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4E79"/>
                          </a:solidFill>
                          <a:latin typeface="Inter"/>
                        </a:defRPr>
                      </a:pPr>
                      <a:r>
                        <a:rPr sz="1500" b="0">
                          <a:solidFill>
                            <a:schemeClr val="tx1"/>
                          </a:solidFill>
                        </a:rPr>
                        <a:t>Binned 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4E79"/>
                          </a:solidFill>
                          <a:latin typeface="Inter"/>
                        </a:defRPr>
                      </a:pPr>
                      <a:r>
                        <a:rPr sz="1500" b="0" dirty="0">
                          <a:solidFill>
                            <a:schemeClr val="tx1"/>
                          </a:solidFill>
                        </a:rPr>
                        <a:t>Discrete memory tiers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4305470"/>
                  </a:ext>
                </a:extLst>
              </a:tr>
            </a:tbl>
          </a:graphicData>
        </a:graphic>
      </p:graphicFrame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19872" y="1567545"/>
            <a:ext cx="4250210" cy="6466112"/>
          </a:xfrm>
        </p:spPr>
        <p:txBody>
          <a:bodyPr>
            <a:normAutofit/>
          </a:bodyPr>
          <a:lstStyle/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ü"/>
              <a:defRPr sz="1600">
                <a:latin typeface="Inter"/>
              </a:defRPr>
            </a:pPr>
            <a:r>
              <a:rPr lang="en-US" dirty="0" smtClean="0"/>
              <a:t>Created composite variable Hardware_Score to represent device computing power.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ü"/>
              <a:defRPr sz="1600">
                <a:latin typeface="Inter"/>
              </a:defRPr>
            </a:pPr>
            <a:r>
              <a:rPr lang="en-US" dirty="0" smtClean="0"/>
              <a:t>Extracted </a:t>
            </a:r>
            <a:r>
              <a:rPr lang="en-US" dirty="0"/>
              <a:t>Camera_Total_Megapixels by combining rear and front camera megapixels.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ü"/>
              <a:defRPr sz="1600">
                <a:latin typeface="Inter"/>
              </a:defRPr>
            </a:pPr>
            <a:r>
              <a:rPr lang="en-US" dirty="0" smtClean="0"/>
              <a:t>Created </a:t>
            </a:r>
            <a:r>
              <a:rPr lang="en-US" dirty="0"/>
              <a:t>RAM_to_Memory_Ratio to detect specification configurations.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ü"/>
              <a:defRPr sz="1600">
                <a:latin typeface="Inter"/>
              </a:defRPr>
            </a:pPr>
            <a:r>
              <a:rPr lang="en-US" dirty="0"/>
              <a:t>Spec Bins &amp; Categorical Segments: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ü"/>
              <a:defRPr sz="1600">
                <a:latin typeface="Inter"/>
              </a:defRPr>
            </a:pPr>
            <a:r>
              <a:rPr lang="en-US" dirty="0" smtClean="0"/>
              <a:t>Segmented </a:t>
            </a:r>
            <a:r>
              <a:rPr lang="en-US" dirty="0"/>
              <a:t>spec variables into standard categories (RAM_Category, Memory_Category, Battery_Category) to facilitate cross-spec pricing analysis.</a:t>
            </a:r>
          </a:p>
        </p:txBody>
      </p:sp>
    </p:spTree>
    <p:extLst>
      <p:ext uri="{BB962C8B-B14F-4D97-AF65-F5344CB8AC3E}">
        <p14:creationId xmlns:p14="http://schemas.microsoft.com/office/powerpoint/2010/main" val="2994540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797" y="254902"/>
            <a:ext cx="7135657" cy="1658198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</a:rPr>
              <a:t>3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</a:rPr>
              <a:t>. Univariate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</a:rPr>
              <a:t>Analysis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</a:rPr>
              <a:t/>
            </a:r>
            <a:b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</a:rPr>
            </a:b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</a:rPr>
              <a:t>    Insights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548" y="1704094"/>
            <a:ext cx="6653021" cy="477871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3000" b="1" spc="-120" dirty="0" smtClean="0">
              <a:solidFill>
                <a:schemeClr val="accent1">
                  <a:lumMod val="75000"/>
                </a:schemeClr>
              </a:solidFill>
              <a:latin typeface="Bahnschrift" panose="020B0502040204020203" pitchFamily="34" charset="0"/>
              <a:ea typeface="+mj-ea"/>
              <a:cs typeface="+mj-cs"/>
            </a:endParaRPr>
          </a:p>
          <a:p>
            <a:pPr marL="0" indent="0">
              <a:buNone/>
            </a:pPr>
            <a:r>
              <a:rPr lang="en-US" sz="3000" b="1" spc="-120" dirty="0" smtClean="0">
                <a:solidFill>
                  <a:schemeClr val="bg1">
                    <a:lumMod val="50000"/>
                  </a:schemeClr>
                </a:solidFill>
                <a:latin typeface="Bahnschrift" panose="020B0502040204020203" pitchFamily="34" charset="0"/>
                <a:ea typeface="+mj-ea"/>
                <a:cs typeface="+mj-cs"/>
              </a:rPr>
              <a:t>Numeric Features</a:t>
            </a:r>
            <a:endParaRPr lang="en-US" sz="3000" b="1" spc="-120" dirty="0">
              <a:solidFill>
                <a:schemeClr val="accent1">
                  <a:lumMod val="75000"/>
                </a:schemeClr>
              </a:solidFill>
              <a:latin typeface="Bahnschrift" panose="020B0502040204020203" pitchFamily="34" charset="0"/>
              <a:ea typeface="+mj-ea"/>
              <a:cs typeface="+mj-cs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b="1" dirty="0" smtClean="0">
                <a:solidFill>
                  <a:schemeClr val="bg1">
                    <a:lumMod val="50000"/>
                  </a:schemeClr>
                </a:solidFill>
              </a:rPr>
              <a:t>Hardware Score Distribution:</a:t>
            </a:r>
          </a:p>
          <a:p>
            <a:pPr lvl="5">
              <a:buFont typeface="Arial" panose="020B0604020202020204" pitchFamily="34" charset="0"/>
              <a:buChar char="•"/>
            </a:pPr>
            <a:r>
              <a:rPr lang="en-US" dirty="0"/>
              <a:t>Hardware scores average 3,237 (median 3,072), show right skew (1.18) toward </a:t>
            </a:r>
            <a:r>
              <a:rPr lang="en-US" dirty="0" smtClean="0"/>
              <a:t>high‑performance</a:t>
            </a:r>
          </a:p>
          <a:p>
            <a:pPr lvl="5">
              <a:buFont typeface="Arial" panose="020B0604020202020204" pitchFamily="34" charset="0"/>
              <a:buChar char="•"/>
            </a:pPr>
            <a:r>
              <a:rPr lang="en-US" dirty="0" smtClean="0"/>
              <a:t>Outliers</a:t>
            </a:r>
            <a:r>
              <a:rPr lang="en-US" dirty="0"/>
              <a:t>: 29 flagships score &gt;7,500 (max RAM/storage/battery</a:t>
            </a:r>
            <a:r>
              <a:rPr lang="en-US" dirty="0" smtClean="0"/>
              <a:t>).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b="1" dirty="0" smtClean="0">
                <a:solidFill>
                  <a:schemeClr val="bg1">
                    <a:lumMod val="50000"/>
                  </a:schemeClr>
                </a:solidFill>
              </a:rPr>
              <a:t>Price distribution:</a:t>
            </a:r>
          </a:p>
          <a:p>
            <a:pPr lvl="5">
              <a:buFont typeface="Arial" panose="020B0604020202020204" pitchFamily="34" charset="0"/>
              <a:buChar char="•"/>
            </a:pPr>
            <a:r>
              <a:rPr lang="en-US" dirty="0"/>
              <a:t>Prices average ₹16,228 (median ₹13,499), show strong right skew (2.43, kurtosis 9.61) with 25 premium outliers above ₹33K (e.g., Galaxy S23)</a:t>
            </a:r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</a:rPr>
              <a:t>RAM to Memory Ratio Insights:</a:t>
            </a:r>
            <a:endParaRPr lang="en-US" sz="2000" dirty="0">
              <a:solidFill>
                <a:schemeClr val="bg1">
                  <a:lumMod val="50000"/>
                </a:schemeClr>
              </a:solidFill>
            </a:endParaRPr>
          </a:p>
          <a:p>
            <a:pPr lvl="5">
              <a:buFont typeface="Arial" panose="020B0604020202020204" pitchFamily="34" charset="0"/>
              <a:buChar char="•"/>
            </a:pPr>
            <a:r>
              <a:rPr lang="en-US" dirty="0"/>
              <a:t>Memory ratios </a:t>
            </a:r>
            <a:r>
              <a:rPr lang="en-US" dirty="0" smtClean="0"/>
              <a:t>Avg/median </a:t>
            </a:r>
            <a:r>
              <a:rPr lang="en-US" dirty="0"/>
              <a:t>0.06, extremely skewed (7.22, kurtosis 91.13) by legacy setups, with 64 outliers at 0.12–0.25 from low‑storage/high‑RAM mismatches.”</a:t>
            </a:r>
            <a:endParaRPr lang="en-US" dirty="0" smtClean="0"/>
          </a:p>
          <a:p>
            <a:pPr marL="457200" indent="-342900"/>
            <a:endParaRPr lang="en-US" b="1" dirty="0"/>
          </a:p>
          <a:p>
            <a:pPr lvl="5">
              <a:buFont typeface="Arial" panose="020B0604020202020204" pitchFamily="34" charset="0"/>
              <a:buChar char="•"/>
            </a:pPr>
            <a:endParaRPr lang="en-US" b="1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t="6119" r="49329"/>
          <a:stretch/>
        </p:blipFill>
        <p:spPr>
          <a:xfrm>
            <a:off x="7599315" y="4432299"/>
            <a:ext cx="4445001" cy="22987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t="6982" r="50378"/>
          <a:stretch/>
        </p:blipFill>
        <p:spPr>
          <a:xfrm>
            <a:off x="7600949" y="2376765"/>
            <a:ext cx="4476751" cy="19558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4"/>
          <a:srcRect t="7883" r="50084"/>
          <a:stretch/>
        </p:blipFill>
        <p:spPr>
          <a:xfrm>
            <a:off x="7600949" y="114300"/>
            <a:ext cx="4476751" cy="216273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56745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857" y="294090"/>
            <a:ext cx="10772775" cy="1658198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</a:rPr>
              <a:t>3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</a:rPr>
              <a:t>. Univariate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</a:rPr>
              <a:t>Analysis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</a:rPr>
              <a:t/>
            </a:r>
            <a:b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</a:rPr>
            </a:b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</a:rPr>
              <a:t>    Insights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900" y="2011680"/>
            <a:ext cx="6019800" cy="46177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b="1" spc="-120" dirty="0" smtClean="0">
                <a:solidFill>
                  <a:schemeClr val="bg1">
                    <a:lumMod val="50000"/>
                  </a:schemeClr>
                </a:solidFill>
                <a:latin typeface="Bahnschrift" panose="020B0502040204020203" pitchFamily="34" charset="0"/>
                <a:ea typeface="+mj-ea"/>
                <a:cs typeface="+mj-cs"/>
              </a:rPr>
              <a:t>Categorical feature:</a:t>
            </a:r>
          </a:p>
          <a:p>
            <a:pPr marL="0" indent="0">
              <a:buNone/>
            </a:pPr>
            <a:endParaRPr lang="en-US" sz="2000" b="1" spc="-120" dirty="0">
              <a:solidFill>
                <a:schemeClr val="accent1">
                  <a:lumMod val="75000"/>
                </a:schemeClr>
              </a:solidFill>
              <a:latin typeface="Bahnschrift" panose="020B0502040204020203" pitchFamily="34" charset="0"/>
              <a:ea typeface="+mj-ea"/>
              <a:cs typeface="+mj-cs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Processors: </a:t>
            </a:r>
            <a:r>
              <a:rPr lang="en-US" sz="2000" dirty="0">
                <a:latin typeface="Arial Narrow" panose="020B0606020202030204" pitchFamily="34" charset="0"/>
              </a:rPr>
              <a:t>MediaTek leads (49.4%); Qualcomm second (mid/high mix).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Colors: </a:t>
            </a:r>
            <a:r>
              <a:rPr lang="en-US" sz="2000" dirty="0">
                <a:latin typeface="Arial Narrow" panose="020B0606020202030204" pitchFamily="34" charset="0"/>
              </a:rPr>
              <a:t>Black (31.2%) and Blue (29.8%) hold 60%+ market share.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RAM: </a:t>
            </a:r>
            <a:r>
              <a:rPr lang="en-US" sz="2000" dirty="0">
                <a:latin typeface="Arial Narrow" panose="020B0606020202030204" pitchFamily="34" charset="0"/>
              </a:rPr>
              <a:t>Mainstream 4–6GB (34.4%), premium 8–12GB (29.0%), budget ≤4GB (14.2</a:t>
            </a:r>
            <a:r>
              <a:rPr lang="en-US" sz="2000" dirty="0" smtClean="0">
                <a:latin typeface="Arial Narrow" panose="020B0606020202030204" pitchFamily="34" charset="0"/>
              </a:rPr>
              <a:t>%).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Storage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: </a:t>
            </a:r>
            <a:r>
              <a:rPr lang="en-US" sz="2000" dirty="0">
                <a:latin typeface="Arial Narrow" panose="020B0606020202030204" pitchFamily="34" charset="0"/>
              </a:rPr>
              <a:t>64–256GB is mainstream; 256GB+ is for premium tier</a:t>
            </a:r>
            <a:r>
              <a:rPr lang="en-US" sz="2000" dirty="0" smtClean="0">
                <a:latin typeface="Arial Narrow" panose="020B0606020202030204" pitchFamily="34" charset="0"/>
              </a:rPr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Brands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: </a:t>
            </a:r>
            <a:r>
              <a:rPr lang="en-US" sz="2000" dirty="0">
                <a:latin typeface="Arial Narrow" panose="020B0606020202030204" pitchFamily="34" charset="0"/>
              </a:rPr>
              <a:t>Top 7 brands control 86.1% (Realme 18.1%, Redmi 13.9%, Infinix 12.0%).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b="1" dirty="0"/>
          </a:p>
          <a:p>
            <a:pPr lvl="5">
              <a:buFont typeface="Arial" panose="020B0604020202020204" pitchFamily="34" charset="0"/>
              <a:buChar char="•"/>
            </a:pPr>
            <a:endParaRPr lang="en-US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6497" y="3425826"/>
            <a:ext cx="5148263" cy="320357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6497" y="294090"/>
            <a:ext cx="5148263" cy="286421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11523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087" y="143690"/>
            <a:ext cx="11112410" cy="144997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</a:rPr>
              <a:t>4. Bivariate Analysis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</a:rPr>
              <a:t>Insights</a:t>
            </a:r>
            <a:b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</a:rPr>
            </a:b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</a:rPr>
              <a:t>   </a:t>
            </a:r>
            <a:r>
              <a:rPr lang="en-US" sz="3300" b="1" dirty="0" smtClean="0">
                <a:solidFill>
                  <a:schemeClr val="bg1">
                    <a:lumMod val="50000"/>
                  </a:schemeClr>
                </a:solidFill>
                <a:latin typeface="Bahnschrift" panose="020B0502040204020203" pitchFamily="34" charset="0"/>
              </a:rPr>
              <a:t>Categorical Features</a:t>
            </a:r>
            <a:endParaRPr lang="en-US" sz="33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2331" y="1593663"/>
            <a:ext cx="10894422" cy="2175736"/>
          </a:xfrm>
        </p:spPr>
        <p:txBody>
          <a:bodyPr>
            <a:normAutofit fontScale="92500" lnSpcReduction="20000"/>
          </a:bodyPr>
          <a:lstStyle/>
          <a:p>
            <a:pPr lvl="1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>
                    <a:lumMod val="65000"/>
                  </a:schemeClr>
                </a:solidFill>
              </a:rPr>
              <a:t>Storage drives price tiers  </a:t>
            </a:r>
            <a:r>
              <a:rPr lang="en-US" sz="1800" dirty="0"/>
              <a:t>≤32GB stays under ₹7.5K, 32–64GB hovers near ₹11K, while 256GB+ leaps to ~₹29.4K premium.</a:t>
            </a:r>
          </a:p>
          <a:p>
            <a:pPr lvl="1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>
                    <a:lumMod val="65000"/>
                  </a:schemeClr>
                </a:solidFill>
              </a:rPr>
              <a:t>Processor tiers </a:t>
            </a:r>
            <a:r>
              <a:rPr lang="en-US" sz="1800" dirty="0"/>
              <a:t>— Apple (~₹80K) &amp; Tensor at premium, Snapdragon (~₹21K) &amp; Exynos mid‑high, MediaTek (~₹14K) entry/mid, Unisoc budget (~₹7.6K).</a:t>
            </a:r>
          </a:p>
          <a:p>
            <a:pPr lvl="1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>
                    <a:lumMod val="65000"/>
                  </a:schemeClr>
                </a:solidFill>
              </a:rPr>
              <a:t>RAM tiers </a:t>
            </a:r>
            <a:r>
              <a:rPr lang="en-US" sz="1800" dirty="0"/>
              <a:t>— ≤4GB ~₹8.3K, 4–6GB ~₹13.4K, 8–12GB premium ~₹26.4K with widest spread across mid‑range &amp; flagship models.</a:t>
            </a:r>
          </a:p>
          <a:p>
            <a:pPr lvl="1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>
                    <a:lumMod val="65000"/>
                  </a:schemeClr>
                </a:solidFill>
              </a:rPr>
              <a:t>Colour tiers </a:t>
            </a:r>
            <a:r>
              <a:rPr lang="en-US" sz="1800" dirty="0"/>
              <a:t>— White (~₹24.5K) signals premium flagships, Black (~₹16.9K) &amp; Gold (~₹16.3K) form mid‑range core, while Blue (~₹15.2K) &amp; Green (~₹13.2K) anchor entry‑level devices.</a:t>
            </a:r>
          </a:p>
          <a:p>
            <a:endParaRPr lang="en-US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50132" t="6019"/>
          <a:stretch/>
        </p:blipFill>
        <p:spPr>
          <a:xfrm>
            <a:off x="370780" y="3918855"/>
            <a:ext cx="3880052" cy="27562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51169" t="3877" b="-1"/>
          <a:stretch/>
        </p:blipFill>
        <p:spPr>
          <a:xfrm>
            <a:off x="8530046" y="3918855"/>
            <a:ext cx="3526971" cy="275626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4"/>
          <a:srcRect l="51315" t="4915"/>
          <a:stretch/>
        </p:blipFill>
        <p:spPr>
          <a:xfrm>
            <a:off x="4457136" y="3918855"/>
            <a:ext cx="3866606" cy="275626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17643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394" y="414745"/>
            <a:ext cx="5421194" cy="1707969"/>
          </a:xfrm>
        </p:spPr>
        <p:txBody>
          <a:bodyPr/>
          <a:lstStyle/>
          <a:p>
            <a:pPr algn="ctr"/>
            <a:r>
              <a:rPr lang="en-US" sz="4500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Market share : </a:t>
            </a:r>
            <a:r>
              <a:rPr lang="en-US" sz="4500" b="1" dirty="0">
                <a:solidFill>
                  <a:schemeClr val="bg1"/>
                </a:solidFill>
                <a:latin typeface="Bahnschrift" panose="020B0502040204020203" pitchFamily="34" charset="0"/>
              </a:rPr>
              <a:t>D</a:t>
            </a:r>
            <a:r>
              <a:rPr lang="en-US" sz="4500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ominant brand</a:t>
            </a:r>
            <a:endParaRPr lang="en-US" sz="4500" dirty="0">
              <a:solidFill>
                <a:schemeClr val="bg1"/>
              </a:solidFill>
            </a:endParaRPr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249501" y="5290456"/>
            <a:ext cx="5276087" cy="1156063"/>
          </a:xfrm>
        </p:spPr>
        <p:txBody>
          <a:bodyPr>
            <a:normAutofit/>
          </a:bodyPr>
          <a:lstStyle/>
          <a:p>
            <a:pPr lvl="0"/>
            <a:r>
              <a:rPr lang="en-US" sz="1600" i="1" dirty="0">
                <a:solidFill>
                  <a:schemeClr val="bg2">
                    <a:lumMod val="90000"/>
                  </a:schemeClr>
                </a:solidFill>
                <a:latin typeface="Lato"/>
                <a:ea typeface="Lato"/>
                <a:cs typeface="Lato"/>
                <a:sym typeface="Lato"/>
              </a:rPr>
              <a:t>The market landscape is highly concentrated: four major value-focused brands control more than </a:t>
            </a:r>
            <a:r>
              <a:rPr lang="en-US" sz="1600" b="1" i="1" dirty="0">
                <a:solidFill>
                  <a:schemeClr val="bg2">
                    <a:lumMod val="90000"/>
                  </a:schemeClr>
                </a:solidFill>
                <a:latin typeface="Lato"/>
                <a:ea typeface="Lato"/>
                <a:cs typeface="Lato"/>
                <a:sym typeface="Lato"/>
              </a:rPr>
              <a:t>55% of the catalog</a:t>
            </a:r>
            <a:r>
              <a:rPr lang="en-US" sz="1600" i="1" dirty="0">
                <a:solidFill>
                  <a:schemeClr val="bg2">
                    <a:lumMod val="90000"/>
                  </a:schemeClr>
                </a:solidFill>
                <a:latin typeface="Lato"/>
                <a:ea typeface="Lato"/>
                <a:cs typeface="Lato"/>
                <a:sym typeface="Lato"/>
              </a:rPr>
              <a:t>, highlighting intense pricing pressure within the budget tiers.</a:t>
            </a:r>
            <a:endParaRPr lang="en-US" sz="1600" dirty="0">
              <a:solidFill>
                <a:schemeClr val="bg2">
                  <a:lumMod val="9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4" name="Google Shape;149;p17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194598" y="2122714"/>
            <a:ext cx="8164286" cy="4219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5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25588" y="1815738"/>
            <a:ext cx="6273709" cy="504226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Subtitle 2"/>
          <p:cNvSpPr txBox="1">
            <a:spLocks/>
          </p:cNvSpPr>
          <p:nvPr/>
        </p:nvSpPr>
        <p:spPr>
          <a:xfrm>
            <a:off x="6400799" y="5290456"/>
            <a:ext cx="5276087" cy="115606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None/>
              <a:defRPr sz="32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4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5000"/>
              </a:lnSpc>
            </a:pPr>
            <a:r>
              <a:rPr lang="en-US" sz="1900" i="1" dirty="0">
                <a:solidFill>
                  <a:schemeClr val="bg2">
                    <a:lumMod val="90000"/>
                  </a:schemeClr>
                </a:solidFill>
                <a:latin typeface="Lato"/>
                <a:ea typeface="Lato"/>
                <a:cs typeface="Lato"/>
                <a:sym typeface="Lato"/>
              </a:rPr>
              <a:t>Our specifications scaling analysis confirms that hardware configurations are the strongest predictor of retail value. RAM tier exhibits a powerful correlation coefficient of r = 0.56 with final price.</a:t>
            </a:r>
            <a:endParaRPr lang="en-US" sz="1900" i="1" dirty="0">
              <a:solidFill>
                <a:schemeClr val="bg2">
                  <a:lumMod val="90000"/>
                </a:schemeClr>
              </a:solidFill>
              <a:latin typeface="Lato"/>
              <a:ea typeface="Lato"/>
              <a:cs typeface="Lato"/>
            </a:endParaRPr>
          </a:p>
          <a:p>
            <a:endParaRPr lang="en-US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6765850" y="1025433"/>
            <a:ext cx="4545983" cy="10972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8800" kern="1200" spc="-12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500" b="1" dirty="0">
                <a:solidFill>
                  <a:schemeClr val="bg1"/>
                </a:solidFill>
                <a:latin typeface="Bahnschrift" panose="020B0502040204020203" pitchFamily="34" charset="0"/>
                <a:sym typeface="Urbanist ExtraBold"/>
              </a:rPr>
              <a:t>Price vs RAM Specs</a:t>
            </a:r>
            <a:endParaRPr lang="en-US" sz="45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8113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7"/>
            <a:ext cx="5905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017" y="289239"/>
            <a:ext cx="7106195" cy="1453093"/>
          </a:xfrm>
        </p:spPr>
        <p:txBody>
          <a:bodyPr/>
          <a:lstStyle/>
          <a:p>
            <a:r>
              <a:rPr lang="en-US" sz="4500" b="1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</a:rPr>
              <a:t>4</a:t>
            </a:r>
            <a:r>
              <a:rPr lang="en-US" sz="4500" b="1" dirty="0" smtClean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</a:rPr>
              <a:t>. Bivariate Analysis : </a:t>
            </a:r>
            <a:br>
              <a:rPr lang="en-US" sz="4500" b="1" dirty="0" smtClean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</a:rPr>
            </a:br>
            <a:r>
              <a:rPr lang="en-US" sz="4500" b="1" dirty="0" smtClean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</a:rPr>
              <a:t>    </a:t>
            </a:r>
            <a:r>
              <a:rPr lang="en-US" sz="3600" b="1" dirty="0" smtClean="0">
                <a:solidFill>
                  <a:schemeClr val="bg1">
                    <a:lumMod val="50000"/>
                  </a:schemeClr>
                </a:solidFill>
                <a:latin typeface="Bahnschrift" panose="020B0502040204020203" pitchFamily="34" charset="0"/>
              </a:rPr>
              <a:t>Numeric </a:t>
            </a:r>
            <a:r>
              <a:rPr lang="en-US" sz="3600" b="1" dirty="0">
                <a:solidFill>
                  <a:schemeClr val="bg1">
                    <a:lumMod val="50000"/>
                  </a:schemeClr>
                </a:solidFill>
                <a:latin typeface="Bahnschrift" panose="020B0502040204020203" pitchFamily="34" charset="0"/>
              </a:rPr>
              <a:t>Features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550" y="2257393"/>
            <a:ext cx="6992983" cy="4600607"/>
          </a:xfrm>
        </p:spPr>
        <p:txBody>
          <a:bodyPr>
            <a:normAutofit fontScale="85000" lnSpcReduction="10000"/>
          </a:bodyPr>
          <a:lstStyle/>
          <a:p>
            <a:pPr>
              <a:spcAft>
                <a:spcPts val="1400"/>
              </a:spcAft>
              <a:defRPr sz="1800">
                <a:latin typeface="Inter"/>
              </a:defRPr>
            </a:pPr>
            <a:r>
              <a:rPr lang="en-US" sz="2900" dirty="0">
                <a:solidFill>
                  <a:schemeClr val="bg1">
                    <a:lumMod val="65000"/>
                  </a:schemeClr>
                </a:solidFill>
              </a:rPr>
              <a:t>Correlation Analysis against Target Price (INR):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ü"/>
              <a:defRPr sz="1800">
                <a:latin typeface="Inter"/>
              </a:defRPr>
            </a:pPr>
            <a:r>
              <a:rPr lang="en-US" sz="2000" dirty="0" smtClean="0"/>
              <a:t>Hardware </a:t>
            </a:r>
            <a:r>
              <a:rPr lang="en-US" sz="2000" dirty="0"/>
              <a:t>Score (r = 0.56): The strongest numeric correlation with Price, confirming hardware scaling drives pricing.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ü"/>
              <a:defRPr sz="1800">
                <a:latin typeface="Inter"/>
              </a:defRPr>
            </a:pPr>
            <a:r>
              <a:rPr lang="en-US" sz="2000" dirty="0" smtClean="0"/>
              <a:t>Camera </a:t>
            </a:r>
            <a:r>
              <a:rPr lang="en-US" sz="2000" dirty="0"/>
              <a:t>Total Megapixels (r = 0.48): Holds a strong positive linear relationship with retail price.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ü"/>
              <a:defRPr sz="1800">
                <a:latin typeface="Inter"/>
              </a:defRPr>
            </a:pPr>
            <a:r>
              <a:rPr lang="en-US" sz="2000" dirty="0" smtClean="0"/>
              <a:t>Mobile </a:t>
            </a:r>
            <a:r>
              <a:rPr lang="en-US" sz="2000" dirty="0"/>
              <a:t>Height (r = -0.06): Displays near-zero correlation, indicating standard height formats (~16.68 cm) do not command a premium.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ü"/>
              <a:defRPr sz="1800">
                <a:latin typeface="Inter"/>
              </a:defRPr>
            </a:pPr>
            <a:r>
              <a:rPr lang="en-US" sz="2000" dirty="0" smtClean="0"/>
              <a:t> </a:t>
            </a:r>
            <a:r>
              <a:rPr lang="en-US" sz="2000" dirty="0"/>
              <a:t>RAM-to-Memory Ratio (r = 0.04): Very weak correlation, confirming that structural ratio imbalance does not dictate retail value.</a:t>
            </a:r>
          </a:p>
          <a:p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300446" y="3039293"/>
            <a:ext cx="6923314" cy="12279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3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7472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3212" y="82722"/>
            <a:ext cx="4297680" cy="233390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3212" y="2521131"/>
            <a:ext cx="4297680" cy="214230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3212" y="4767943"/>
            <a:ext cx="4297680" cy="19855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55300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1450" y="0"/>
            <a:ext cx="59055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05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103" y="0"/>
            <a:ext cx="9273067" cy="1658198"/>
          </a:xfrm>
        </p:spPr>
        <p:txBody>
          <a:bodyPr>
            <a:normAutofit/>
          </a:bodyPr>
          <a:lstStyle/>
          <a:p>
            <a:r>
              <a:rPr lang="en-US" sz="4900" b="1" dirty="0" smtClean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</a:rPr>
              <a:t>5. Multivariate Analytical insight :</a:t>
            </a:r>
            <a:endParaRPr lang="en-US" sz="4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3103" y="1513053"/>
            <a:ext cx="5898314" cy="5526375"/>
          </a:xfrm>
        </p:spPr>
        <p:txBody>
          <a:bodyPr>
            <a:normAutofit fontScale="92500" lnSpcReduction="20000"/>
          </a:bodyPr>
          <a:lstStyle/>
          <a:p>
            <a:pPr marL="342900" lvl="0" indent="-342900">
              <a:lnSpc>
                <a:spcPct val="110000"/>
              </a:lnSpc>
              <a:spcBef>
                <a:spcPts val="1200"/>
              </a:spcBef>
              <a:spcAft>
                <a:spcPts val="1400"/>
              </a:spcAft>
              <a:buFont typeface="Wingdings" panose="05000000000000000000" pitchFamily="2" charset="2"/>
              <a:buChar char="ü"/>
              <a:defRPr sz="1800">
                <a:latin typeface="Inter"/>
              </a:defRPr>
            </a:pPr>
            <a:r>
              <a:rPr lang="en-US" sz="1800" dirty="0">
                <a:solidFill>
                  <a:srgbClr val="262626"/>
                </a:solidFill>
                <a:latin typeface="Inter"/>
              </a:rPr>
              <a:t>The Flagship Bundle (Core Drivers): Hardware_Score (0.56) and Camera_Megapixels (0.48) are the primary price drivers. Manufacturers strictly package high-end CPUs with premium sensors (0.53 correlation) to form "prestige tiers."</a:t>
            </a:r>
          </a:p>
          <a:p>
            <a:pPr marL="342900" lvl="0" indent="-342900">
              <a:lnSpc>
                <a:spcPct val="110000"/>
              </a:lnSpc>
              <a:spcBef>
                <a:spcPts val="1200"/>
              </a:spcBef>
              <a:spcAft>
                <a:spcPts val="1400"/>
              </a:spcAft>
              <a:buFont typeface="Wingdings" panose="05000000000000000000" pitchFamily="2" charset="2"/>
              <a:buChar char="ü"/>
              <a:defRPr sz="1800">
                <a:latin typeface="Inter"/>
              </a:defRPr>
            </a:pPr>
            <a:r>
              <a:rPr lang="en-US" sz="1800" dirty="0">
                <a:solidFill>
                  <a:srgbClr val="262626"/>
                </a:solidFill>
                <a:latin typeface="Inter"/>
              </a:rPr>
              <a:t>Silicon Stratification: Chipset choices define market boundaries. Unisoc is locked in the entry-level corner; Snapdragon/MediaTek span all tiers; Apple/Google Tensor anchor the premium high-margin sector</a:t>
            </a:r>
          </a:p>
          <a:p>
            <a:pPr marL="342900" indent="-342900">
              <a:lnSpc>
                <a:spcPct val="110000"/>
              </a:lnSpc>
              <a:spcBef>
                <a:spcPts val="1200"/>
              </a:spcBef>
              <a:spcAft>
                <a:spcPts val="1400"/>
              </a:spcAft>
              <a:buFont typeface="Wingdings" panose="05000000000000000000" pitchFamily="2" charset="2"/>
              <a:buChar char="ü"/>
              <a:defRPr sz="1800">
                <a:latin typeface="Inter"/>
              </a:defRPr>
            </a:pPr>
            <a:r>
              <a:rPr lang="en-US" sz="1800" dirty="0">
                <a:solidFill>
                  <a:srgbClr val="262626"/>
                </a:solidFill>
                <a:latin typeface="Inter"/>
              </a:rPr>
              <a:t>Symmetric Configurations: Product configurations are highly balanced. "Unbalanced" builds (e.g., high RAM with low storage) do not exist in the market.</a:t>
            </a:r>
          </a:p>
          <a:p>
            <a:pPr marL="342900" indent="-342900">
              <a:lnSpc>
                <a:spcPct val="110000"/>
              </a:lnSpc>
              <a:spcBef>
                <a:spcPts val="1200"/>
              </a:spcBef>
              <a:spcAft>
                <a:spcPts val="1400"/>
              </a:spcAft>
              <a:buFont typeface="Wingdings" panose="05000000000000000000" pitchFamily="2" charset="2"/>
              <a:buChar char="ü"/>
              <a:defRPr sz="1800">
                <a:latin typeface="Inter"/>
              </a:defRPr>
            </a:pPr>
            <a:r>
              <a:rPr lang="en-US" sz="1800" dirty="0">
                <a:solidFill>
                  <a:srgbClr val="262626"/>
                </a:solidFill>
                <a:latin typeface="Inter"/>
              </a:rPr>
              <a:t>The Price Floor &amp; Premium Steps: Specs place a strict lower bound on cost—zero high-spec devices exist at low prices. Upgrading tiers yields exponential price jumps, moving from a standard 4-6GB/64-128GB build (∼13.4k INR) to a premium 8-12GB/256GB+ model (∼50k+ INR).</a:t>
            </a:r>
          </a:p>
          <a:p>
            <a:pPr lvl="0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417" y="1219179"/>
            <a:ext cx="4875348" cy="54885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3560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258" y="240685"/>
            <a:ext cx="10846412" cy="942218"/>
          </a:xfrm>
        </p:spPr>
        <p:txBody>
          <a:bodyPr/>
          <a:lstStyle/>
          <a:p>
            <a:r>
              <a:rPr lang="en-US" sz="4900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6. </a:t>
            </a:r>
            <a:r>
              <a:rPr lang="en-US" sz="4900" b="1" dirty="0">
                <a:solidFill>
                  <a:schemeClr val="bg1"/>
                </a:solidFill>
                <a:latin typeface="Bahnschrift" panose="020B0502040204020203" pitchFamily="34" charset="0"/>
              </a:rPr>
              <a:t>Outlier Handling: IQR Winsorization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5182249"/>
              </p:ext>
            </p:extLst>
          </p:nvPr>
        </p:nvGraphicFramePr>
        <p:xfrm>
          <a:off x="5384801" y="1349830"/>
          <a:ext cx="6691085" cy="5283198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002970">
                  <a:extLst>
                    <a:ext uri="{9D8B030D-6E8A-4147-A177-3AD203B41FA5}">
                      <a16:colId xmlns:a16="http://schemas.microsoft.com/office/drawing/2014/main" val="560858445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1697738831"/>
                    </a:ext>
                  </a:extLst>
                </a:gridCol>
                <a:gridCol w="1190172">
                  <a:extLst>
                    <a:ext uri="{9D8B030D-6E8A-4147-A177-3AD203B41FA5}">
                      <a16:colId xmlns:a16="http://schemas.microsoft.com/office/drawing/2014/main" val="110038454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65046048"/>
                    </a:ext>
                  </a:extLst>
                </a:gridCol>
                <a:gridCol w="1364343">
                  <a:extLst>
                    <a:ext uri="{9D8B030D-6E8A-4147-A177-3AD203B41FA5}">
                      <a16:colId xmlns:a16="http://schemas.microsoft.com/office/drawing/2014/main" val="1811666831"/>
                    </a:ext>
                  </a:extLst>
                </a:gridCol>
              </a:tblGrid>
              <a:tr h="1195008">
                <a:tc>
                  <a:txBody>
                    <a:bodyPr/>
                    <a:lstStyle/>
                    <a:p>
                      <a:pPr>
                        <a:defRPr sz="1200" b="1">
                          <a:latin typeface="Outfit"/>
                        </a:defRPr>
                      </a:pPr>
                      <a:r>
                        <a:rPr sz="1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Metric (Original vs Capped)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Outfit"/>
                        </a:defRPr>
                      </a:pPr>
                      <a:r>
                        <a:rPr sz="1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Outfit"/>
                        </a:defRPr>
                      </a:pPr>
                      <a:r>
                        <a:rPr sz="1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Std Dev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Outfit"/>
                        </a:defRPr>
                      </a:pPr>
                      <a:r>
                        <a:rPr sz="1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Outfit"/>
                        </a:defRPr>
                      </a:pPr>
                      <a:r>
                        <a:rPr sz="1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Max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6955861"/>
                  </a:ext>
                </a:extLst>
              </a:tr>
              <a:tr h="530419">
                <a:tc>
                  <a:txBody>
                    <a:bodyPr/>
                    <a:lstStyle/>
                    <a:p>
                      <a:pPr>
                        <a:defRPr sz="1100">
                          <a:latin typeface="Inter"/>
                        </a:defRPr>
                      </a:pPr>
                      <a:r>
                        <a:rPr sz="16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Price (Original)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Inter"/>
                        </a:defRPr>
                      </a:pPr>
                      <a:r>
                        <a:rPr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16,228.38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Inter"/>
                        </a:defRPr>
                      </a:pPr>
                      <a:r>
                        <a:rPr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10,793.59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Inter"/>
                        </a:defRPr>
                      </a:pPr>
                      <a:r>
                        <a:rPr sz="16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920.0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Inter"/>
                        </a:defRPr>
                      </a:pPr>
                      <a:r>
                        <a:rPr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80,999.00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6641586"/>
                  </a:ext>
                </a:extLst>
              </a:tr>
              <a:tr h="530419">
                <a:tc>
                  <a:txBody>
                    <a:bodyPr/>
                    <a:lstStyle/>
                    <a:p>
                      <a:pPr>
                        <a:defRPr sz="1100">
                          <a:latin typeface="Inter"/>
                        </a:defRPr>
                      </a:pPr>
                      <a:r>
                        <a:rPr sz="16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Price (Capped)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Inter"/>
                        </a:defRPr>
                      </a:pPr>
                      <a:r>
                        <a:rPr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15,499.80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Inter"/>
                        </a:defRPr>
                      </a:pPr>
                      <a:r>
                        <a:rPr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8,234.75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Inter"/>
                        </a:defRPr>
                      </a:pPr>
                      <a:r>
                        <a:rPr sz="16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920.0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Inter"/>
                        </a:defRPr>
                      </a:pPr>
                      <a:r>
                        <a:rPr sz="16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34,265.00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2106071"/>
                  </a:ext>
                </a:extLst>
              </a:tr>
              <a:tr h="756838">
                <a:tc>
                  <a:txBody>
                    <a:bodyPr/>
                    <a:lstStyle/>
                    <a:p>
                      <a:pPr>
                        <a:defRPr sz="1100">
                          <a:latin typeface="Inter"/>
                        </a:defRPr>
                      </a:pPr>
                      <a:r>
                        <a:rPr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Hardware_Score (Orig)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Inter"/>
                        </a:defRPr>
                      </a:pPr>
                      <a:r>
                        <a:rPr sz="16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3,236.80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Inter"/>
                        </a:defRPr>
                      </a:pPr>
                      <a:r>
                        <a:rPr sz="16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2,492.04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Inter"/>
                        </a:defRPr>
                      </a:pPr>
                      <a:r>
                        <a:rPr sz="16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64.0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Inter"/>
                        </a:defRPr>
                      </a:pPr>
                      <a:r>
                        <a:rPr sz="16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10,403.84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350394"/>
                  </a:ext>
                </a:extLst>
              </a:tr>
              <a:tr h="756838">
                <a:tc>
                  <a:txBody>
                    <a:bodyPr/>
                    <a:lstStyle/>
                    <a:p>
                      <a:pPr>
                        <a:defRPr sz="1100">
                          <a:latin typeface="Inter"/>
                        </a:defRPr>
                      </a:pPr>
                      <a:r>
                        <a:rPr sz="16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Hardware_Score (Cap)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Inter"/>
                        </a:defRPr>
                      </a:pPr>
                      <a:r>
                        <a:rPr sz="16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3,202.45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Inter"/>
                        </a:defRPr>
                      </a:pPr>
                      <a:r>
                        <a:rPr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2,397.66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Inter"/>
                        </a:defRPr>
                      </a:pPr>
                      <a:r>
                        <a:rPr sz="16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64.0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Inter"/>
                        </a:defRPr>
                      </a:pPr>
                      <a:r>
                        <a:rPr sz="16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9,600.00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572813"/>
                  </a:ext>
                </a:extLst>
              </a:tr>
              <a:tr h="756838">
                <a:tc>
                  <a:txBody>
                    <a:bodyPr/>
                    <a:lstStyle/>
                    <a:p>
                      <a:pPr>
                        <a:defRPr sz="1100">
                          <a:latin typeface="Inter"/>
                        </a:defRPr>
                      </a:pPr>
                      <a:r>
                        <a:rPr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Camera_Total (Orig)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Inter"/>
                        </a:defRPr>
                      </a:pPr>
                      <a:r>
                        <a:rPr sz="16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58.10 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Inter"/>
                        </a:defRPr>
                      </a:pPr>
                      <a:r>
                        <a:rPr sz="16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36.68 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Inter"/>
                        </a:defRPr>
                      </a:pPr>
                      <a:r>
                        <a:rPr sz="16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0.0 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Inter"/>
                        </a:defRPr>
                      </a:pPr>
                      <a:r>
                        <a:rPr sz="16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260.00 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636735"/>
                  </a:ext>
                </a:extLst>
              </a:tr>
              <a:tr h="75683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4E79"/>
                          </a:solidFill>
                          <a:latin typeface="Inter"/>
                        </a:defRPr>
                      </a:pPr>
                      <a:r>
                        <a:rPr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Camera_Total (Cap)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4E79"/>
                          </a:solidFill>
                          <a:latin typeface="Inter"/>
                        </a:defRPr>
                      </a:pPr>
                      <a:r>
                        <a:rPr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56.56 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4E79"/>
                          </a:solidFill>
                          <a:latin typeface="Inter"/>
                        </a:defRPr>
                      </a:pPr>
                      <a:r>
                        <a:rPr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31.14 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4E79"/>
                          </a:solidFill>
                          <a:latin typeface="Inter"/>
                        </a:defRPr>
                      </a:pPr>
                      <a:r>
                        <a:rPr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0.0 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4E79"/>
                          </a:solidFill>
                          <a:latin typeface="Inter"/>
                        </a:defRPr>
                      </a:pPr>
                      <a:r>
                        <a:rPr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133.50 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487018"/>
                  </a:ext>
                </a:extLst>
              </a:tr>
            </a:tbl>
          </a:graphicData>
        </a:graphic>
      </p:graphicFrame>
      <p:sp>
        <p:nvSpPr>
          <p:cNvPr id="8" name="Content Placeholder 3"/>
          <p:cNvSpPr txBox="1">
            <a:spLocks/>
          </p:cNvSpPr>
          <p:nvPr/>
        </p:nvSpPr>
        <p:spPr>
          <a:xfrm>
            <a:off x="261258" y="1378857"/>
            <a:ext cx="5123542" cy="52541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7472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1200"/>
              </a:spcBef>
              <a:spcAft>
                <a:spcPts val="1400"/>
              </a:spcAft>
              <a:buNone/>
              <a:defRPr sz="1800">
                <a:latin typeface="Inter"/>
              </a:defRPr>
            </a:pPr>
            <a:r>
              <a:rPr lang="en-US" b="1" u="sng" dirty="0">
                <a:solidFill>
                  <a:schemeClr val="bg1"/>
                </a:solidFill>
                <a:latin typeface="Inter"/>
              </a:rPr>
              <a:t>Outlier Capping Strategy:</a:t>
            </a:r>
          </a:p>
          <a:p>
            <a:pPr marL="342900" indent="-342900">
              <a:lnSpc>
                <a:spcPct val="90000"/>
              </a:lnSpc>
              <a:spcBef>
                <a:spcPts val="1200"/>
              </a:spcBef>
              <a:spcAft>
                <a:spcPts val="1400"/>
              </a:spcAft>
              <a:buFont typeface="Wingdings" panose="05000000000000000000" pitchFamily="2" charset="2"/>
              <a:buChar char="ü"/>
              <a:defRPr sz="1800">
                <a:latin typeface="Inter"/>
              </a:defRPr>
            </a:pPr>
            <a:r>
              <a:rPr lang="en-US" sz="1700" dirty="0">
                <a:solidFill>
                  <a:schemeClr val="bg1"/>
                </a:solidFill>
                <a:latin typeface="Inter"/>
              </a:rPr>
              <a:t> </a:t>
            </a:r>
            <a:r>
              <a:rPr lang="en-US" sz="1700" dirty="0" smtClean="0">
                <a:solidFill>
                  <a:schemeClr val="bg1"/>
                </a:solidFill>
                <a:latin typeface="Inter"/>
              </a:rPr>
              <a:t>Mobile </a:t>
            </a:r>
            <a:r>
              <a:rPr lang="en-US" sz="1700" dirty="0">
                <a:solidFill>
                  <a:schemeClr val="bg1"/>
                </a:solidFill>
                <a:latin typeface="Inter"/>
              </a:rPr>
              <a:t>prices contain extreme outliers (flagship models) that can skew model convergence.</a:t>
            </a:r>
          </a:p>
          <a:p>
            <a:pPr marL="342900" indent="-342900">
              <a:lnSpc>
                <a:spcPct val="90000"/>
              </a:lnSpc>
              <a:spcBef>
                <a:spcPts val="1200"/>
              </a:spcBef>
              <a:spcAft>
                <a:spcPts val="1400"/>
              </a:spcAft>
              <a:buFont typeface="Wingdings" panose="05000000000000000000" pitchFamily="2" charset="2"/>
              <a:buChar char="ü"/>
              <a:defRPr sz="1800">
                <a:latin typeface="Inter"/>
              </a:defRPr>
            </a:pPr>
            <a:r>
              <a:rPr lang="en-US" sz="1700" dirty="0" smtClean="0">
                <a:solidFill>
                  <a:schemeClr val="bg1"/>
                </a:solidFill>
                <a:latin typeface="Inter"/>
              </a:rPr>
              <a:t>Applied </a:t>
            </a:r>
            <a:r>
              <a:rPr lang="en-US" sz="1700" dirty="0">
                <a:solidFill>
                  <a:schemeClr val="bg1"/>
                </a:solidFill>
                <a:latin typeface="Inter"/>
              </a:rPr>
              <a:t>IQR Winsorization: capped values outside Q1 - 1.5*IQR and Q3 + 1.5*IQR.</a:t>
            </a:r>
          </a:p>
          <a:p>
            <a:pPr marL="342900" indent="-342900">
              <a:lnSpc>
                <a:spcPct val="90000"/>
              </a:lnSpc>
              <a:spcBef>
                <a:spcPts val="1200"/>
              </a:spcBef>
              <a:spcAft>
                <a:spcPts val="1400"/>
              </a:spcAft>
              <a:buFont typeface="Wingdings" panose="05000000000000000000" pitchFamily="2" charset="2"/>
              <a:buChar char="ü"/>
              <a:defRPr sz="1800">
                <a:latin typeface="Inter"/>
              </a:defRPr>
            </a:pPr>
            <a:r>
              <a:rPr lang="en-US" sz="1700" dirty="0" smtClean="0">
                <a:solidFill>
                  <a:schemeClr val="bg1"/>
                </a:solidFill>
                <a:latin typeface="Inter"/>
              </a:rPr>
              <a:t>Winsorization </a:t>
            </a:r>
            <a:r>
              <a:rPr lang="en-US" sz="1700" dirty="0">
                <a:solidFill>
                  <a:schemeClr val="bg1"/>
                </a:solidFill>
                <a:latin typeface="Inter"/>
              </a:rPr>
              <a:t>applied to Price, Hardware_Score, and </a:t>
            </a:r>
            <a:r>
              <a:rPr lang="en-US" sz="1700" dirty="0" smtClean="0">
                <a:solidFill>
                  <a:schemeClr val="bg1"/>
                </a:solidFill>
                <a:latin typeface="Inter"/>
              </a:rPr>
              <a:t>Camera_Total_Megapixels.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spcAft>
                <a:spcPts val="1400"/>
              </a:spcAft>
              <a:buNone/>
              <a:defRPr sz="1800">
                <a:latin typeface="Inter"/>
              </a:defRPr>
            </a:pPr>
            <a:r>
              <a:rPr lang="en-US" b="1" u="sng" dirty="0" smtClean="0">
                <a:solidFill>
                  <a:schemeClr val="bg1"/>
                </a:solidFill>
                <a:latin typeface="Inter"/>
              </a:rPr>
              <a:t>Benefits</a:t>
            </a:r>
            <a:r>
              <a:rPr lang="en-US" b="1" u="sng" dirty="0">
                <a:solidFill>
                  <a:schemeClr val="bg1"/>
                </a:solidFill>
                <a:latin typeface="Inter"/>
              </a:rPr>
              <a:t>:</a:t>
            </a:r>
          </a:p>
          <a:p>
            <a:pPr marL="342900" indent="-342900">
              <a:lnSpc>
                <a:spcPct val="90000"/>
              </a:lnSpc>
              <a:spcBef>
                <a:spcPts val="1200"/>
              </a:spcBef>
              <a:spcAft>
                <a:spcPts val="1400"/>
              </a:spcAft>
              <a:buFont typeface="Wingdings" panose="05000000000000000000" pitchFamily="2" charset="2"/>
              <a:buChar char="ü"/>
              <a:defRPr sz="1800">
                <a:latin typeface="Inter"/>
              </a:defRPr>
            </a:pPr>
            <a:r>
              <a:rPr lang="en-US" sz="1700" dirty="0" smtClean="0">
                <a:solidFill>
                  <a:schemeClr val="bg1"/>
                </a:solidFill>
                <a:latin typeface="Inter"/>
              </a:rPr>
              <a:t>Prevents </a:t>
            </a:r>
            <a:r>
              <a:rPr lang="en-US" sz="1700" dirty="0">
                <a:solidFill>
                  <a:schemeClr val="bg1"/>
                </a:solidFill>
                <a:latin typeface="Inter"/>
              </a:rPr>
              <a:t>extreme outliers from dictating mean predictions.</a:t>
            </a:r>
          </a:p>
          <a:p>
            <a:pPr marL="342900" indent="-342900">
              <a:lnSpc>
                <a:spcPct val="90000"/>
              </a:lnSpc>
              <a:spcBef>
                <a:spcPts val="1200"/>
              </a:spcBef>
              <a:spcAft>
                <a:spcPts val="1400"/>
              </a:spcAft>
              <a:buFont typeface="Wingdings" panose="05000000000000000000" pitchFamily="2" charset="2"/>
              <a:buChar char="ü"/>
              <a:defRPr sz="1800">
                <a:latin typeface="Inter"/>
              </a:defRPr>
            </a:pPr>
            <a:r>
              <a:rPr lang="en-US" sz="1700" dirty="0" smtClean="0">
                <a:solidFill>
                  <a:schemeClr val="bg1"/>
                </a:solidFill>
                <a:latin typeface="Inter"/>
              </a:rPr>
              <a:t>Stabilizes </a:t>
            </a:r>
            <a:r>
              <a:rPr lang="en-US" sz="1700" dirty="0">
                <a:solidFill>
                  <a:schemeClr val="bg1"/>
                </a:solidFill>
                <a:latin typeface="Inter"/>
              </a:rPr>
              <a:t>variance across numeric specifications for more robust cross-validation</a:t>
            </a:r>
            <a:r>
              <a:rPr lang="en-US" sz="1700" dirty="0">
                <a:solidFill>
                  <a:srgbClr val="262626"/>
                </a:solidFill>
                <a:latin typeface="Inter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089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915" y="217713"/>
            <a:ext cx="6850742" cy="2002972"/>
          </a:xfrm>
        </p:spPr>
        <p:txBody>
          <a:bodyPr/>
          <a:lstStyle/>
          <a:p>
            <a:r>
              <a:rPr lang="en-US" sz="5000" b="1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</a:rPr>
              <a:t>7</a:t>
            </a:r>
            <a:r>
              <a:rPr lang="en-US" sz="5000" b="1" dirty="0" smtClean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</a:rPr>
              <a:t>. </a:t>
            </a:r>
            <a:r>
              <a:rPr lang="en-US" sz="5000" b="1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</a:rPr>
              <a:t>Categorical </a:t>
            </a:r>
            <a:r>
              <a:rPr lang="en-US" sz="5000" b="1" dirty="0" smtClean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</a:rPr>
              <a:t>Feature</a:t>
            </a:r>
            <a:br>
              <a:rPr lang="en-US" sz="5000" b="1" dirty="0" smtClean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</a:rPr>
            </a:br>
            <a:r>
              <a:rPr lang="en-US" sz="5400" dirty="0" smtClean="0"/>
              <a:t>L  </a:t>
            </a:r>
            <a:r>
              <a:rPr lang="en-US" sz="5400" b="1" dirty="0" smtClean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</a:rPr>
              <a:t>Label </a:t>
            </a:r>
            <a:r>
              <a:rPr lang="en-US" sz="5000" b="1" dirty="0" smtClean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</a:rPr>
              <a:t>Encoding </a:t>
            </a:r>
            <a:r>
              <a:rPr lang="en-US" b="1" dirty="0" err="1" smtClean="0">
                <a:solidFill>
                  <a:schemeClr val="bg1"/>
                </a:solidFill>
                <a:latin typeface="Bahnschrift" panose="020B0502040204020203" pitchFamily="34" charset="0"/>
              </a:rPr>
              <a:t>Encoding</a:t>
            </a:r>
            <a:endParaRPr lang="en-US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8403598"/>
              </p:ext>
            </p:extLst>
          </p:nvPr>
        </p:nvGraphicFramePr>
        <p:xfrm>
          <a:off x="420915" y="1781630"/>
          <a:ext cx="6966855" cy="4884054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322285">
                  <a:extLst>
                    <a:ext uri="{9D8B030D-6E8A-4147-A177-3AD203B41FA5}">
                      <a16:colId xmlns:a16="http://schemas.microsoft.com/office/drawing/2014/main" val="1513276606"/>
                    </a:ext>
                  </a:extLst>
                </a:gridCol>
                <a:gridCol w="2322285">
                  <a:extLst>
                    <a:ext uri="{9D8B030D-6E8A-4147-A177-3AD203B41FA5}">
                      <a16:colId xmlns:a16="http://schemas.microsoft.com/office/drawing/2014/main" val="682080996"/>
                    </a:ext>
                  </a:extLst>
                </a:gridCol>
                <a:gridCol w="2322285">
                  <a:extLst>
                    <a:ext uri="{9D8B030D-6E8A-4147-A177-3AD203B41FA5}">
                      <a16:colId xmlns:a16="http://schemas.microsoft.com/office/drawing/2014/main" val="1939670474"/>
                    </a:ext>
                  </a:extLst>
                </a:gridCol>
              </a:tblGrid>
              <a:tr h="814009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1100" b="1">
                          <a:solidFill>
                            <a:srgbClr val="1F4E79"/>
                          </a:solidFill>
                          <a:latin typeface="Inter"/>
                        </a:defRPr>
                      </a:pPr>
                      <a:r>
                        <a:rPr sz="1500" kern="1200" dirty="0">
                          <a:solidFill>
                            <a:schemeClr val="bg1"/>
                          </a:solidFill>
                        </a:rPr>
                        <a:t>Original Category</a:t>
                      </a:r>
                      <a:endParaRPr sz="1500" b="0" kern="1200" dirty="0">
                        <a:solidFill>
                          <a:schemeClr val="bg1"/>
                        </a:solidFill>
                        <a:latin typeface="Inter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1100" b="1">
                          <a:solidFill>
                            <a:srgbClr val="1F4E79"/>
                          </a:solidFill>
                          <a:latin typeface="Inter"/>
                        </a:defRPr>
                      </a:pPr>
                      <a:r>
                        <a:rPr sz="1500" kern="1200">
                          <a:solidFill>
                            <a:schemeClr val="bg1"/>
                          </a:solidFill>
                        </a:rPr>
                        <a:t>Encoded column</a:t>
                      </a:r>
                      <a:endParaRPr sz="1500" b="0" kern="1200">
                        <a:solidFill>
                          <a:schemeClr val="bg1"/>
                        </a:solidFill>
                        <a:latin typeface="Inter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1100" b="1">
                          <a:solidFill>
                            <a:srgbClr val="1F4E79"/>
                          </a:solidFill>
                          <a:latin typeface="Inter"/>
                        </a:defRPr>
                      </a:pPr>
                      <a:r>
                        <a:rPr sz="1500" kern="1200" dirty="0">
                          <a:solidFill>
                            <a:schemeClr val="bg1"/>
                          </a:solidFill>
                        </a:rPr>
                        <a:t>Discrete Labels</a:t>
                      </a:r>
                      <a:endParaRPr sz="1500" b="0" kern="1200" dirty="0">
                        <a:solidFill>
                          <a:schemeClr val="bg1"/>
                        </a:solidFill>
                        <a:latin typeface="Inter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2145466"/>
                  </a:ext>
                </a:extLst>
              </a:tr>
              <a:tr h="814009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1100" b="1">
                          <a:solidFill>
                            <a:srgbClr val="1F4E79"/>
                          </a:solidFill>
                          <a:latin typeface="Inter"/>
                        </a:defRPr>
                      </a:pPr>
                      <a:r>
                        <a:rPr sz="15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Model_name</a:t>
                      </a:r>
                      <a:endParaRPr sz="15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Inter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1100" b="1">
                          <a:solidFill>
                            <a:srgbClr val="1F4E79"/>
                          </a:solidFill>
                          <a:latin typeface="Inter"/>
                        </a:defRPr>
                      </a:pPr>
                      <a:r>
                        <a:rPr sz="1500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Model_name_Encoded</a:t>
                      </a:r>
                      <a:endParaRPr sz="1500" b="0" kern="12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Inter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1100" b="1">
                          <a:solidFill>
                            <a:srgbClr val="1F4E79"/>
                          </a:solidFill>
                          <a:latin typeface="Inter"/>
                        </a:defRPr>
                      </a:pPr>
                      <a:r>
                        <a:rPr sz="1500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10+ Unique Brands</a:t>
                      </a:r>
                      <a:endParaRPr sz="1500" b="0" kern="12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Inter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4288747"/>
                  </a:ext>
                </a:extLst>
              </a:tr>
              <a:tr h="814009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1100" b="1">
                          <a:solidFill>
                            <a:srgbClr val="1F4E79"/>
                          </a:solidFill>
                          <a:latin typeface="Inter"/>
                        </a:defRPr>
                      </a:pPr>
                      <a:r>
                        <a:rPr sz="15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processor</a:t>
                      </a:r>
                      <a:endParaRPr sz="15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Inter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1100" b="1">
                          <a:solidFill>
                            <a:srgbClr val="1F4E79"/>
                          </a:solidFill>
                          <a:latin typeface="Inter"/>
                        </a:defRPr>
                      </a:pPr>
                      <a:r>
                        <a:rPr sz="15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processor_Encoded</a:t>
                      </a:r>
                      <a:endParaRPr sz="15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Inter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1100" b="1">
                          <a:solidFill>
                            <a:srgbClr val="1F4E79"/>
                          </a:solidFill>
                          <a:latin typeface="Inter"/>
                        </a:defRPr>
                      </a:pPr>
                      <a:r>
                        <a:rPr sz="1500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15+ Unique Chipsets</a:t>
                      </a:r>
                      <a:endParaRPr sz="1500" b="0" kern="12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Inter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893093"/>
                  </a:ext>
                </a:extLst>
              </a:tr>
              <a:tr h="814009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1100" b="1">
                          <a:solidFill>
                            <a:srgbClr val="1F4E79"/>
                          </a:solidFill>
                          <a:latin typeface="Inter"/>
                        </a:defRPr>
                      </a:pPr>
                      <a:r>
                        <a:rPr sz="1500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RAM_Category</a:t>
                      </a:r>
                      <a:endParaRPr sz="1500" b="0" kern="12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Inter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1100" b="1">
                          <a:solidFill>
                            <a:srgbClr val="1F4E79"/>
                          </a:solidFill>
                          <a:latin typeface="Inter"/>
                        </a:defRPr>
                      </a:pPr>
                      <a:r>
                        <a:rPr sz="15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RAM_Category_Encoded</a:t>
                      </a:r>
                      <a:endParaRPr sz="15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Inter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1100" b="1">
                          <a:solidFill>
                            <a:srgbClr val="1F4E79"/>
                          </a:solidFill>
                          <a:latin typeface="Inter"/>
                        </a:defRPr>
                      </a:pPr>
                      <a:r>
                        <a:rPr sz="1500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5 Bins</a:t>
                      </a:r>
                      <a:endParaRPr sz="1500" b="0" kern="12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Inter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6422398"/>
                  </a:ext>
                </a:extLst>
              </a:tr>
              <a:tr h="814009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1100" b="1">
                          <a:solidFill>
                            <a:srgbClr val="1F4E79"/>
                          </a:solidFill>
                          <a:latin typeface="Inter"/>
                        </a:defRPr>
                      </a:pPr>
                      <a:r>
                        <a:rPr sz="1500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Memory_Category</a:t>
                      </a:r>
                      <a:endParaRPr sz="1500" b="0" kern="12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Inter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1100" b="1">
                          <a:solidFill>
                            <a:srgbClr val="1F4E79"/>
                          </a:solidFill>
                          <a:latin typeface="Inter"/>
                        </a:defRPr>
                      </a:pPr>
                      <a:r>
                        <a:rPr sz="15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Memory_Category_Encoded</a:t>
                      </a:r>
                      <a:endParaRPr sz="15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Inter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1100" b="1">
                          <a:solidFill>
                            <a:srgbClr val="1F4E79"/>
                          </a:solidFill>
                          <a:latin typeface="Inter"/>
                        </a:defRPr>
                      </a:pPr>
                      <a:r>
                        <a:rPr sz="15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5 Bins</a:t>
                      </a:r>
                      <a:endParaRPr sz="15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Inter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9878643"/>
                  </a:ext>
                </a:extLst>
              </a:tr>
              <a:tr h="814009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1100" b="1">
                          <a:solidFill>
                            <a:srgbClr val="1F4E79"/>
                          </a:solidFill>
                          <a:latin typeface="Inter"/>
                        </a:defRPr>
                      </a:pPr>
                      <a:r>
                        <a:rPr sz="1500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base_colour</a:t>
                      </a:r>
                      <a:endParaRPr sz="1500" b="0" kern="12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Inter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1100" b="1">
                          <a:solidFill>
                            <a:srgbClr val="1F4E79"/>
                          </a:solidFill>
                          <a:latin typeface="Inter"/>
                        </a:defRPr>
                      </a:pPr>
                      <a:r>
                        <a:rPr sz="1500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base_colour_Encoded</a:t>
                      </a:r>
                      <a:endParaRPr sz="1500" b="0" kern="12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Inter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1100" b="1">
                          <a:solidFill>
                            <a:srgbClr val="1F4E79"/>
                          </a:solidFill>
                          <a:latin typeface="Inter"/>
                        </a:defRPr>
                      </a:pPr>
                      <a:r>
                        <a:rPr sz="15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20+ Unique Colours</a:t>
                      </a:r>
                      <a:endParaRPr sz="15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Inter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2250755"/>
                  </a:ext>
                </a:extLst>
              </a:tr>
            </a:tbl>
          </a:graphicData>
        </a:graphic>
      </p:graphicFrame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4171" y="769257"/>
            <a:ext cx="4194629" cy="5617030"/>
          </a:xfrm>
        </p:spPr>
        <p:txBody>
          <a:bodyPr>
            <a:noAutofit/>
          </a:bodyPr>
          <a:lstStyle/>
          <a:p>
            <a:pPr>
              <a:spcAft>
                <a:spcPts val="1000"/>
              </a:spcAft>
              <a:defRPr sz="1600">
                <a:latin typeface="Inter"/>
              </a:defRPr>
            </a:pPr>
            <a:r>
              <a:rPr lang="en-US" sz="1700" dirty="0" smtClean="0">
                <a:latin typeface="Inter"/>
              </a:rPr>
              <a:t> </a:t>
            </a:r>
            <a:r>
              <a:rPr lang="en-US" sz="1700" b="1" dirty="0"/>
              <a:t>Encoding &amp; Dimensionality Setup: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ü"/>
              <a:defRPr sz="1600">
                <a:latin typeface="Inter"/>
              </a:defRPr>
            </a:pPr>
            <a:r>
              <a:rPr lang="en-US" sz="1700" dirty="0" smtClean="0"/>
              <a:t> </a:t>
            </a:r>
            <a:r>
              <a:rPr lang="en-US" sz="1700" dirty="0"/>
              <a:t>Formatted categorical columns into numerical labels to make them compatible with regression algorithms.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ü"/>
              <a:defRPr sz="1600">
                <a:latin typeface="Inter"/>
              </a:defRPr>
            </a:pPr>
            <a:r>
              <a:rPr lang="en-US" sz="1700" dirty="0" smtClean="0"/>
              <a:t>Applied </a:t>
            </a:r>
            <a:r>
              <a:rPr lang="en-US" sz="1700" dirty="0"/>
              <a:t>LabelEncoder to: Model_name, processor, base_colour, RAM_Category, Memory_Category.</a:t>
            </a:r>
          </a:p>
          <a:p>
            <a:pPr>
              <a:spcAft>
                <a:spcPts val="1000"/>
              </a:spcAft>
              <a:defRPr sz="1600">
                <a:latin typeface="Inter"/>
              </a:defRPr>
            </a:pPr>
            <a:r>
              <a:rPr lang="en-US" sz="1700" b="1" dirty="0"/>
              <a:t>Data Representation: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ü"/>
              <a:defRPr sz="1600">
                <a:latin typeface="Inter"/>
              </a:defRPr>
            </a:pPr>
            <a:r>
              <a:rPr lang="en-US" sz="1700" dirty="0" smtClean="0"/>
              <a:t>Label </a:t>
            </a:r>
            <a:r>
              <a:rPr lang="en-US" sz="1700" dirty="0"/>
              <a:t>encoding retains discrete ordinal patterns without expanding feature dimensions (unlike One-Hot Encoding which adds 50+ columns for brand/model names).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ü"/>
              <a:defRPr sz="1600">
                <a:latin typeface="Inter"/>
              </a:defRPr>
            </a:pPr>
            <a:r>
              <a:rPr lang="en-US" sz="1700" dirty="0" smtClean="0"/>
              <a:t> </a:t>
            </a:r>
            <a:r>
              <a:rPr lang="en-US" sz="1700" dirty="0"/>
              <a:t>Fully encoded numerical </a:t>
            </a:r>
            <a:r>
              <a:rPr lang="en-US" sz="1700" dirty="0" smtClean="0"/>
              <a:t>data to train model.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686671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200" cy="685473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4800" y="3270"/>
            <a:ext cx="457200" cy="685473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3758538"/>
              </p:ext>
            </p:extLst>
          </p:nvPr>
        </p:nvGraphicFramePr>
        <p:xfrm>
          <a:off x="562384" y="2315396"/>
          <a:ext cx="11067231" cy="3918861"/>
        </p:xfrm>
        <a:graphic>
          <a:graphicData uri="http://schemas.openxmlformats.org/drawingml/2006/table">
            <a:tbl>
              <a:tblPr/>
              <a:tblGrid>
                <a:gridCol w="1581033">
                  <a:extLst>
                    <a:ext uri="{9D8B030D-6E8A-4147-A177-3AD203B41FA5}">
                      <a16:colId xmlns:a16="http://schemas.microsoft.com/office/drawing/2014/main" val="3574497385"/>
                    </a:ext>
                  </a:extLst>
                </a:gridCol>
                <a:gridCol w="1581033">
                  <a:extLst>
                    <a:ext uri="{9D8B030D-6E8A-4147-A177-3AD203B41FA5}">
                      <a16:colId xmlns:a16="http://schemas.microsoft.com/office/drawing/2014/main" val="1274413572"/>
                    </a:ext>
                  </a:extLst>
                </a:gridCol>
                <a:gridCol w="1581033">
                  <a:extLst>
                    <a:ext uri="{9D8B030D-6E8A-4147-A177-3AD203B41FA5}">
                      <a16:colId xmlns:a16="http://schemas.microsoft.com/office/drawing/2014/main" val="3276041071"/>
                    </a:ext>
                  </a:extLst>
                </a:gridCol>
                <a:gridCol w="1581033">
                  <a:extLst>
                    <a:ext uri="{9D8B030D-6E8A-4147-A177-3AD203B41FA5}">
                      <a16:colId xmlns:a16="http://schemas.microsoft.com/office/drawing/2014/main" val="1532075303"/>
                    </a:ext>
                  </a:extLst>
                </a:gridCol>
                <a:gridCol w="1581033">
                  <a:extLst>
                    <a:ext uri="{9D8B030D-6E8A-4147-A177-3AD203B41FA5}">
                      <a16:colId xmlns:a16="http://schemas.microsoft.com/office/drawing/2014/main" val="1326857564"/>
                    </a:ext>
                  </a:extLst>
                </a:gridCol>
                <a:gridCol w="1581033">
                  <a:extLst>
                    <a:ext uri="{9D8B030D-6E8A-4147-A177-3AD203B41FA5}">
                      <a16:colId xmlns:a16="http://schemas.microsoft.com/office/drawing/2014/main" val="3193850206"/>
                    </a:ext>
                  </a:extLst>
                </a:gridCol>
                <a:gridCol w="1581033">
                  <a:extLst>
                    <a:ext uri="{9D8B030D-6E8A-4147-A177-3AD203B41FA5}">
                      <a16:colId xmlns:a16="http://schemas.microsoft.com/office/drawing/2014/main" val="2840881408"/>
                    </a:ext>
                  </a:extLst>
                </a:gridCol>
              </a:tblGrid>
              <a:tr h="571717">
                <a:tc>
                  <a:txBody>
                    <a:bodyPr/>
                    <a:lstStyle/>
                    <a:p>
                      <a:r>
                        <a:rPr lang="en-US" b="1"/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CV Mean MAE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CV Mean RMSE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CV Mean R²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Test MAE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Test RMSE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Test R² 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9711407"/>
                  </a:ext>
                </a:extLst>
              </a:tr>
              <a:tr h="727640">
                <a:tc>
                  <a:txBody>
                    <a:bodyPr/>
                    <a:lstStyle/>
                    <a:p>
                      <a:r>
                        <a:rPr lang="en-US" b="1"/>
                        <a:t>Linear Regression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4,479.14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7,201.01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0.5199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4,343.70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8,881.19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0.5262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2261715"/>
                  </a:ext>
                </a:extLst>
              </a:tr>
              <a:tr h="727640">
                <a:tc>
                  <a:txBody>
                    <a:bodyPr/>
                    <a:lstStyle/>
                    <a:p>
                      <a:r>
                        <a:rPr lang="en-US" b="1"/>
                        <a:t>Ridge Regression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4,387.92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7,053.56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0.5434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4,390.12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8,059.63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0.5287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0322858"/>
                  </a:ext>
                </a:extLst>
              </a:tr>
              <a:tr h="945932">
                <a:tc>
                  <a:txBody>
                    <a:bodyPr/>
                    <a:lstStyle/>
                    <a:p>
                      <a:r>
                        <a:rPr lang="en-US" b="1" dirty="0"/>
                        <a:t>Random Forest Regressor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2,346.36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4,850.71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0.7761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1,838.04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5,126.57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0.8093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4271787"/>
                  </a:ext>
                </a:extLst>
              </a:tr>
              <a:tr h="945932">
                <a:tc>
                  <a:txBody>
                    <a:bodyPr/>
                    <a:lstStyle/>
                    <a:p>
                      <a:r>
                        <a:rPr lang="en-US" b="1" dirty="0"/>
                        <a:t>Gradient Boosting Regressor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2,429.60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4,913.11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0.7668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2,055.62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5,049.80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0.8150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397539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63213" y="524560"/>
            <a:ext cx="1033571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500" b="1" spc="-120" dirty="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rPr>
              <a:t>Model Performance Comparison (Cross-Validation vs Test Holdout)</a:t>
            </a:r>
          </a:p>
        </p:txBody>
      </p:sp>
    </p:spTree>
    <p:extLst>
      <p:ext uri="{BB962C8B-B14F-4D97-AF65-F5344CB8AC3E}">
        <p14:creationId xmlns:p14="http://schemas.microsoft.com/office/powerpoint/2010/main" val="2476942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103" y="373025"/>
            <a:ext cx="6992983" cy="1397000"/>
          </a:xfrm>
        </p:spPr>
        <p:txBody>
          <a:bodyPr/>
          <a:lstStyle/>
          <a:p>
            <a:r>
              <a:rPr lang="en-US" sz="4500" b="1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</a:rPr>
              <a:t>8</a:t>
            </a:r>
            <a:r>
              <a:rPr lang="en-US" sz="4500" b="1" dirty="0" smtClean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</a:rPr>
              <a:t>. </a:t>
            </a:r>
            <a:r>
              <a:rPr lang="en-US" sz="4500" b="1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</a:rPr>
              <a:t>Machine Learning </a:t>
            </a:r>
            <a:r>
              <a:rPr lang="en-US" sz="4500" b="1" dirty="0" smtClean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</a:rPr>
              <a:t> Modeling </a:t>
            </a:r>
            <a:r>
              <a:rPr lang="en-US" sz="4500" b="1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</a:rPr>
              <a:t>&amp; Price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07086" y="469540"/>
            <a:ext cx="4362631" cy="6101078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05000"/>
              </a:lnSpc>
            </a:pPr>
            <a:r>
              <a:rPr lang="en-US" sz="4600" b="1" dirty="0">
                <a:solidFill>
                  <a:schemeClr val="tx2">
                    <a:lumMod val="50000"/>
                  </a:schemeClr>
                </a:solidFill>
              </a:rPr>
              <a:t>Pipeline </a:t>
            </a:r>
            <a:r>
              <a:rPr lang="en-US" sz="4600" b="1" dirty="0" smtClean="0">
                <a:solidFill>
                  <a:schemeClr val="tx2">
                    <a:lumMod val="50000"/>
                  </a:schemeClr>
                </a:solidFill>
              </a:rPr>
              <a:t>Setup</a:t>
            </a:r>
            <a:endParaRPr lang="en-US" sz="4600" b="1" dirty="0">
              <a:solidFill>
                <a:schemeClr val="tx2">
                  <a:lumMod val="50000"/>
                </a:schemeClr>
              </a:solidFill>
            </a:endParaRPr>
          </a:p>
          <a:p>
            <a:pPr>
              <a:lnSpc>
                <a:spcPct val="105000"/>
              </a:lnSpc>
              <a:buFont typeface="Wingdings" panose="05000000000000000000" pitchFamily="2" charset="2"/>
              <a:buChar char="ü"/>
            </a:pPr>
            <a:r>
              <a:rPr lang="en-US" sz="3100" dirty="0" smtClean="0">
                <a:solidFill>
                  <a:schemeClr val="tx2">
                    <a:lumMod val="50000"/>
                  </a:schemeClr>
                </a:solidFill>
                <a:latin typeface="Bahnschrift Light Condensed" panose="020B0502040204020203" pitchFamily="34" charset="0"/>
              </a:rPr>
              <a:t> Preprocessed </a:t>
            </a:r>
            <a:r>
              <a:rPr lang="en-US" sz="3100" dirty="0">
                <a:solidFill>
                  <a:schemeClr val="tx2">
                    <a:lumMod val="50000"/>
                  </a:schemeClr>
                </a:solidFill>
                <a:latin typeface="Bahnschrift Light Condensed" panose="020B0502040204020203" pitchFamily="34" charset="0"/>
              </a:rPr>
              <a:t>numeric features → ML </a:t>
            </a:r>
            <a:r>
              <a:rPr lang="en-US" sz="3100" dirty="0" smtClean="0">
                <a:solidFill>
                  <a:schemeClr val="tx2">
                    <a:lumMod val="50000"/>
                  </a:schemeClr>
                </a:solidFill>
                <a:latin typeface="Bahnschrift Light Condensed" panose="020B0502040204020203" pitchFamily="34" charset="0"/>
              </a:rPr>
              <a:t>   models</a:t>
            </a:r>
            <a:endParaRPr lang="en-US" sz="3100" dirty="0">
              <a:solidFill>
                <a:schemeClr val="tx2">
                  <a:lumMod val="50000"/>
                </a:schemeClr>
              </a:solidFill>
              <a:latin typeface="Bahnschrift Light Condensed" panose="020B0502040204020203" pitchFamily="34" charset="0"/>
            </a:endParaRPr>
          </a:p>
          <a:p>
            <a:pPr>
              <a:lnSpc>
                <a:spcPct val="105000"/>
              </a:lnSpc>
              <a:buFont typeface="Wingdings" panose="05000000000000000000" pitchFamily="2" charset="2"/>
              <a:buChar char="ü"/>
            </a:pPr>
            <a:r>
              <a:rPr lang="en-US" sz="3100" dirty="0" smtClean="0">
                <a:solidFill>
                  <a:schemeClr val="tx2">
                    <a:lumMod val="50000"/>
                  </a:schemeClr>
                </a:solidFill>
                <a:latin typeface="Bahnschrift Light Condensed" panose="020B0502040204020203" pitchFamily="34" charset="0"/>
              </a:rPr>
              <a:t> Strict </a:t>
            </a:r>
            <a:r>
              <a:rPr lang="en-US" sz="3100" dirty="0">
                <a:solidFill>
                  <a:schemeClr val="tx2">
                    <a:lumMod val="50000"/>
                  </a:schemeClr>
                </a:solidFill>
                <a:latin typeface="Bahnschrift Light Condensed" panose="020B0502040204020203" pitchFamily="34" charset="0"/>
              </a:rPr>
              <a:t>validation for robustness</a:t>
            </a:r>
          </a:p>
          <a:p>
            <a:pPr>
              <a:lnSpc>
                <a:spcPct val="105000"/>
              </a:lnSpc>
            </a:pPr>
            <a:r>
              <a:rPr lang="en-US" sz="4600" b="1" dirty="0">
                <a:solidFill>
                  <a:schemeClr val="tx2">
                    <a:lumMod val="50000"/>
                  </a:schemeClr>
                </a:solidFill>
              </a:rPr>
              <a:t>Validation </a:t>
            </a:r>
            <a:r>
              <a:rPr lang="en-US" sz="4600" b="1" dirty="0" smtClean="0">
                <a:solidFill>
                  <a:schemeClr val="tx2">
                    <a:lumMod val="50000"/>
                  </a:schemeClr>
                </a:solidFill>
              </a:rPr>
              <a:t>Protocol</a:t>
            </a:r>
            <a:endParaRPr lang="en-US" sz="4600" b="1" dirty="0">
              <a:solidFill>
                <a:schemeClr val="tx2">
                  <a:lumMod val="50000"/>
                </a:schemeClr>
              </a:solidFill>
            </a:endParaRPr>
          </a:p>
          <a:p>
            <a:pPr>
              <a:lnSpc>
                <a:spcPct val="105000"/>
              </a:lnSpc>
              <a:buFont typeface="Wingdings" panose="05000000000000000000" pitchFamily="2" charset="2"/>
              <a:buChar char="ü"/>
            </a:pPr>
            <a:r>
              <a:rPr lang="en-US" sz="3100" dirty="0">
                <a:solidFill>
                  <a:schemeClr val="tx2">
                    <a:lumMod val="50000"/>
                  </a:schemeClr>
                </a:solidFill>
                <a:latin typeface="Bahnschrift Light Condensed" panose="020B0502040204020203" pitchFamily="34" charset="0"/>
              </a:rPr>
              <a:t>80/20 train–test split</a:t>
            </a:r>
          </a:p>
          <a:p>
            <a:pPr>
              <a:lnSpc>
                <a:spcPct val="105000"/>
              </a:lnSpc>
              <a:buFont typeface="Wingdings" panose="05000000000000000000" pitchFamily="2" charset="2"/>
              <a:buChar char="ü"/>
            </a:pPr>
            <a:r>
              <a:rPr lang="en-US" sz="3100" dirty="0">
                <a:solidFill>
                  <a:schemeClr val="tx2">
                    <a:lumMod val="50000"/>
                  </a:schemeClr>
                </a:solidFill>
                <a:latin typeface="Bahnschrift Light Condensed" panose="020B0502040204020203" pitchFamily="34" charset="0"/>
              </a:rPr>
              <a:t>5‑fold cross‑validation (KFold, seed=42)</a:t>
            </a:r>
          </a:p>
          <a:p>
            <a:pPr>
              <a:lnSpc>
                <a:spcPct val="105000"/>
              </a:lnSpc>
              <a:buFont typeface="Wingdings" panose="05000000000000000000" pitchFamily="2" charset="2"/>
              <a:buChar char="ü"/>
            </a:pPr>
            <a:r>
              <a:rPr lang="en-US" sz="3100" dirty="0">
                <a:solidFill>
                  <a:schemeClr val="tx2">
                    <a:lumMod val="50000"/>
                  </a:schemeClr>
                </a:solidFill>
                <a:latin typeface="Bahnschrift Light Condensed" panose="020B0502040204020203" pitchFamily="34" charset="0"/>
              </a:rPr>
              <a:t>No leakage (scaling/encoding isolated)</a:t>
            </a:r>
          </a:p>
          <a:p>
            <a:pPr>
              <a:lnSpc>
                <a:spcPct val="105000"/>
              </a:lnSpc>
            </a:pPr>
            <a:r>
              <a:rPr lang="en-US" sz="4600" b="1" dirty="0">
                <a:solidFill>
                  <a:schemeClr val="tx2">
                    <a:lumMod val="50000"/>
                  </a:schemeClr>
                </a:solidFill>
              </a:rPr>
              <a:t>Evaluation </a:t>
            </a:r>
            <a:r>
              <a:rPr lang="en-US" sz="4600" b="1" dirty="0" smtClean="0">
                <a:solidFill>
                  <a:schemeClr val="tx2">
                    <a:lumMod val="50000"/>
                  </a:schemeClr>
                </a:solidFill>
              </a:rPr>
              <a:t>Metrics</a:t>
            </a:r>
            <a:endParaRPr lang="en-US" sz="4600" b="1" dirty="0">
              <a:solidFill>
                <a:schemeClr val="tx2">
                  <a:lumMod val="50000"/>
                </a:schemeClr>
              </a:solidFill>
            </a:endParaRPr>
          </a:p>
          <a:p>
            <a:pPr>
              <a:lnSpc>
                <a:spcPct val="105000"/>
              </a:lnSpc>
              <a:buFont typeface="Wingdings" panose="05000000000000000000" pitchFamily="2" charset="2"/>
              <a:buChar char="ü"/>
            </a:pPr>
            <a:r>
              <a:rPr lang="en-US" sz="3100" dirty="0">
                <a:solidFill>
                  <a:schemeClr val="tx2">
                    <a:lumMod val="50000"/>
                  </a:schemeClr>
                </a:solidFill>
                <a:latin typeface="Bahnschrift Light Condensed" panose="020B0502040204020203" pitchFamily="34" charset="0"/>
              </a:rPr>
              <a:t>MAE → Avg error (₹)</a:t>
            </a:r>
          </a:p>
          <a:p>
            <a:pPr>
              <a:lnSpc>
                <a:spcPct val="105000"/>
              </a:lnSpc>
              <a:buFont typeface="Wingdings" panose="05000000000000000000" pitchFamily="2" charset="2"/>
              <a:buChar char="ü"/>
            </a:pPr>
            <a:r>
              <a:rPr lang="en-US" sz="3100" dirty="0">
                <a:solidFill>
                  <a:schemeClr val="tx2">
                    <a:lumMod val="50000"/>
                  </a:schemeClr>
                </a:solidFill>
                <a:latin typeface="Bahnschrift Light Condensed" panose="020B0502040204020203" pitchFamily="34" charset="0"/>
              </a:rPr>
              <a:t>RMSE → Penalizes large errors</a:t>
            </a:r>
          </a:p>
          <a:p>
            <a:pPr>
              <a:lnSpc>
                <a:spcPct val="105000"/>
              </a:lnSpc>
              <a:buFont typeface="Wingdings" panose="05000000000000000000" pitchFamily="2" charset="2"/>
              <a:buChar char="ü"/>
            </a:pPr>
            <a:r>
              <a:rPr lang="en-US" sz="3100" dirty="0">
                <a:solidFill>
                  <a:schemeClr val="tx2">
                    <a:lumMod val="50000"/>
                  </a:schemeClr>
                </a:solidFill>
                <a:latin typeface="Bahnschrift Light Condensed" panose="020B0502040204020203" pitchFamily="34" charset="0"/>
              </a:rPr>
              <a:t>R² → % variance explained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0996" y="2245366"/>
            <a:ext cx="6992983" cy="3370217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85000"/>
              </a:lnSpc>
              <a:spcBef>
                <a:spcPct val="0"/>
              </a:spcBef>
              <a:spcAft>
                <a:spcPts val="1400"/>
              </a:spcAft>
              <a:defRPr sz="1800">
                <a:latin typeface="Inter"/>
              </a:defRPr>
            </a:pPr>
            <a:r>
              <a:rPr lang="en-US" sz="14000" spc="-12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Insights:</a:t>
            </a:r>
            <a:endParaRPr lang="en-US" sz="14000" spc="-12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20000"/>
              </a:lnSpc>
              <a:spcAft>
                <a:spcPts val="1000"/>
              </a:spcAft>
              <a:defRPr sz="1600">
                <a:latin typeface="Inter"/>
              </a:defRPr>
            </a:pPr>
            <a:r>
              <a:rPr lang="en-US" sz="10000" dirty="0">
                <a:solidFill>
                  <a:schemeClr val="bg1">
                    <a:lumMod val="50000"/>
                  </a:schemeClr>
                </a:solidFill>
                <a:latin typeface="Inter"/>
              </a:rPr>
              <a:t>Model Performance</a:t>
            </a:r>
          </a:p>
          <a:p>
            <a:pPr marL="285750" indent="-285750">
              <a:lnSpc>
                <a:spcPct val="120000"/>
              </a:lnSpc>
              <a:spcAft>
                <a:spcPts val="1000"/>
              </a:spcAft>
              <a:buFont typeface="Wingdings" panose="05000000000000000000" pitchFamily="2" charset="2"/>
              <a:buChar char="ü"/>
              <a:defRPr sz="1600">
                <a:latin typeface="Inter"/>
              </a:defRPr>
            </a:pPr>
            <a:r>
              <a:rPr lang="en-US" sz="7200" dirty="0" smtClean="0">
                <a:latin typeface="Inter"/>
              </a:rPr>
              <a:t>Random </a:t>
            </a:r>
            <a:r>
              <a:rPr lang="en-US" sz="7200" dirty="0">
                <a:latin typeface="Inter"/>
              </a:rPr>
              <a:t>Forest &amp; Gradient Boosting → R² &gt; 0.80, strong </a:t>
            </a:r>
            <a:r>
              <a:rPr lang="en-US" sz="7200" dirty="0" smtClean="0">
                <a:latin typeface="Inter"/>
              </a:rPr>
              <a:t>    predictive </a:t>
            </a:r>
            <a:r>
              <a:rPr lang="en-US" sz="7200" dirty="0">
                <a:latin typeface="Inter"/>
              </a:rPr>
              <a:t>accuracy</a:t>
            </a:r>
          </a:p>
          <a:p>
            <a:pPr marL="285750" indent="-285750">
              <a:lnSpc>
                <a:spcPct val="120000"/>
              </a:lnSpc>
              <a:spcAft>
                <a:spcPts val="1000"/>
              </a:spcAft>
              <a:buFont typeface="Wingdings" panose="05000000000000000000" pitchFamily="2" charset="2"/>
              <a:buChar char="ü"/>
              <a:defRPr sz="1600">
                <a:latin typeface="Inter"/>
              </a:defRPr>
            </a:pPr>
            <a:r>
              <a:rPr lang="en-US" sz="7200" dirty="0">
                <a:latin typeface="Inter"/>
              </a:rPr>
              <a:t>Capture complex, non‑linear pricing patterns</a:t>
            </a:r>
          </a:p>
          <a:p>
            <a:pPr marL="285750" indent="-285750">
              <a:lnSpc>
                <a:spcPct val="120000"/>
              </a:lnSpc>
              <a:spcAft>
                <a:spcPts val="1000"/>
              </a:spcAft>
              <a:buFont typeface="Wingdings" panose="05000000000000000000" pitchFamily="2" charset="2"/>
              <a:buChar char="ü"/>
              <a:defRPr sz="1600">
                <a:latin typeface="Inter"/>
              </a:defRPr>
            </a:pPr>
            <a:r>
              <a:rPr lang="en-US" sz="7200" dirty="0">
                <a:latin typeface="Inter"/>
              </a:rPr>
              <a:t>Linear Regression → R² ~0.52, confirms pricing depends on multi‑spec thresholds</a:t>
            </a:r>
          </a:p>
          <a:p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300446" y="3039293"/>
            <a:ext cx="6923314" cy="12279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3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7472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05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99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3956" y="831668"/>
            <a:ext cx="7053942" cy="5582194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1200"/>
              </a:spcBef>
              <a:spcAft>
                <a:spcPts val="1000"/>
              </a:spcAft>
              <a:buNone/>
              <a:defRPr sz="1600">
                <a:latin typeface="Inter"/>
              </a:defRPr>
            </a:pPr>
            <a:r>
              <a:rPr lang="en-US" sz="2500" dirty="0">
                <a:solidFill>
                  <a:schemeClr val="bg1">
                    <a:lumMod val="50000"/>
                  </a:schemeClr>
                </a:solidFill>
                <a:latin typeface="Inter"/>
              </a:rPr>
              <a:t>Key Spec Drivers (Feature Importance)</a:t>
            </a:r>
          </a:p>
          <a:p>
            <a:pPr marL="285750" indent="-285750">
              <a:lnSpc>
                <a:spcPct val="110000"/>
              </a:lnSpc>
              <a:spcBef>
                <a:spcPts val="1200"/>
              </a:spcBef>
              <a:spcAft>
                <a:spcPts val="1000"/>
              </a:spcAft>
              <a:buFont typeface="Wingdings" panose="05000000000000000000" pitchFamily="2" charset="2"/>
              <a:buChar char="ü"/>
              <a:defRPr sz="1600">
                <a:latin typeface="Inter"/>
              </a:defRPr>
            </a:pPr>
            <a:r>
              <a:rPr lang="en-US" sz="1800" dirty="0">
                <a:solidFill>
                  <a:srgbClr val="262626"/>
                </a:solidFill>
                <a:latin typeface="Inter"/>
              </a:rPr>
              <a:t>Front Camera MP &amp; Brand → Primary drivers, strongest influence on price</a:t>
            </a:r>
          </a:p>
          <a:p>
            <a:pPr marL="285750" indent="-285750">
              <a:lnSpc>
                <a:spcPct val="110000"/>
              </a:lnSpc>
              <a:spcBef>
                <a:spcPts val="1200"/>
              </a:spcBef>
              <a:spcAft>
                <a:spcPts val="1000"/>
              </a:spcAft>
              <a:buFont typeface="Wingdings" panose="05000000000000000000" pitchFamily="2" charset="2"/>
              <a:buChar char="ü"/>
              <a:defRPr sz="1600">
                <a:latin typeface="Inter"/>
              </a:defRPr>
            </a:pPr>
            <a:r>
              <a:rPr lang="en-US" sz="1800" dirty="0">
                <a:solidFill>
                  <a:srgbClr val="262626"/>
                </a:solidFill>
                <a:latin typeface="Inter"/>
              </a:rPr>
              <a:t>Battery Category &amp; Hardware Score → Secondary tier, highlight efficiency &amp; battery specs as differentiators</a:t>
            </a:r>
          </a:p>
          <a:p>
            <a:pPr marL="285750" indent="-285750">
              <a:lnSpc>
                <a:spcPct val="110000"/>
              </a:lnSpc>
              <a:spcBef>
                <a:spcPts val="1200"/>
              </a:spcBef>
              <a:spcAft>
                <a:spcPts val="1000"/>
              </a:spcAft>
              <a:buFont typeface="Wingdings" panose="05000000000000000000" pitchFamily="2" charset="2"/>
              <a:buChar char="ü"/>
              <a:defRPr sz="1600">
                <a:latin typeface="Inter"/>
              </a:defRPr>
            </a:pPr>
            <a:r>
              <a:rPr lang="en-US" sz="1800" dirty="0">
                <a:solidFill>
                  <a:srgbClr val="262626"/>
                </a:solidFill>
                <a:latin typeface="Inter"/>
              </a:rPr>
              <a:t>Height &amp; Base Colour → Minimal impact, commoditized features</a:t>
            </a:r>
          </a:p>
          <a:p>
            <a:pPr marL="0" indent="0">
              <a:lnSpc>
                <a:spcPct val="110000"/>
              </a:lnSpc>
              <a:spcBef>
                <a:spcPts val="1200"/>
              </a:spcBef>
              <a:spcAft>
                <a:spcPts val="1000"/>
              </a:spcAft>
              <a:buNone/>
              <a:defRPr sz="1600">
                <a:latin typeface="Inter"/>
              </a:defRPr>
            </a:pPr>
            <a:r>
              <a:rPr lang="en-US" sz="2500" dirty="0" smtClean="0">
                <a:solidFill>
                  <a:schemeClr val="bg1">
                    <a:lumMod val="50000"/>
                  </a:schemeClr>
                </a:solidFill>
                <a:latin typeface="Inter"/>
              </a:rPr>
              <a:t>Takeaway</a:t>
            </a:r>
            <a:endParaRPr lang="en-US" sz="2500" dirty="0">
              <a:solidFill>
                <a:schemeClr val="bg1">
                  <a:lumMod val="50000"/>
                </a:schemeClr>
              </a:solidFill>
              <a:latin typeface="Inter"/>
            </a:endParaRPr>
          </a:p>
          <a:p>
            <a:pPr marL="285750" indent="-285750">
              <a:lnSpc>
                <a:spcPct val="110000"/>
              </a:lnSpc>
              <a:spcBef>
                <a:spcPts val="1200"/>
              </a:spcBef>
              <a:spcAft>
                <a:spcPts val="1000"/>
              </a:spcAft>
              <a:buFont typeface="Wingdings" panose="05000000000000000000" pitchFamily="2" charset="2"/>
              <a:buChar char="ü"/>
              <a:defRPr sz="1600">
                <a:latin typeface="Inter"/>
              </a:defRPr>
            </a:pPr>
            <a:r>
              <a:rPr lang="en-US" sz="1800" dirty="0">
                <a:solidFill>
                  <a:srgbClr val="262626"/>
                </a:solidFill>
                <a:latin typeface="Inter"/>
              </a:rPr>
              <a:t>Non‑linear ensemble models best capture mobile pricing dynamics</a:t>
            </a:r>
          </a:p>
          <a:p>
            <a:pPr marL="285750" indent="-285750">
              <a:lnSpc>
                <a:spcPct val="110000"/>
              </a:lnSpc>
              <a:spcBef>
                <a:spcPts val="1200"/>
              </a:spcBef>
              <a:spcAft>
                <a:spcPts val="1000"/>
              </a:spcAft>
              <a:buFont typeface="Wingdings" panose="05000000000000000000" pitchFamily="2" charset="2"/>
              <a:buChar char="ü"/>
              <a:defRPr sz="1600">
                <a:latin typeface="Inter"/>
              </a:defRPr>
            </a:pPr>
            <a:r>
              <a:rPr lang="en-US" sz="1800" dirty="0">
                <a:solidFill>
                  <a:srgbClr val="262626"/>
                </a:solidFill>
                <a:latin typeface="Inter"/>
              </a:rPr>
              <a:t>Camera quality, brand, and efficiency specs drive value perception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4469" y="3344092"/>
            <a:ext cx="3971108" cy="3226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4469" y="209007"/>
            <a:ext cx="3931920" cy="296526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774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306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818" y="744584"/>
            <a:ext cx="10772775" cy="1306286"/>
          </a:xfrm>
        </p:spPr>
        <p:txBody>
          <a:bodyPr>
            <a:normAutofit fontScale="90000"/>
          </a:bodyPr>
          <a:lstStyle/>
          <a:p>
            <a:r>
              <a:rPr lang="en-US" sz="5000" b="1" dirty="0" smtClean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</a:rPr>
              <a:t>9. Summary </a:t>
            </a:r>
            <a:r>
              <a:rPr lang="en-US" sz="5000" b="1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</a:rPr>
              <a:t>&amp; </a:t>
            </a:r>
            <a:r>
              <a:rPr lang="en-US" sz="5000" b="1" dirty="0" smtClean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</a:rPr>
              <a:t>Conclusions: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1818" y="1881050"/>
            <a:ext cx="4835870" cy="4467498"/>
          </a:xfrm>
        </p:spPr>
        <p:txBody>
          <a:bodyPr>
            <a:normAutofit fontScale="70000" lnSpcReduction="20000"/>
          </a:bodyPr>
          <a:lstStyle/>
          <a:p>
            <a:pPr marL="0" lvl="0" indent="0">
              <a:buNone/>
            </a:pPr>
            <a:r>
              <a:rPr lang="en-US" sz="3400" dirty="0">
                <a:solidFill>
                  <a:schemeClr val="bg1">
                    <a:lumMod val="50000"/>
                  </a:schemeClr>
                </a:solidFill>
                <a:latin typeface="Inter"/>
              </a:rPr>
              <a:t>Market Profile: </a:t>
            </a:r>
            <a:endParaRPr lang="en-US" sz="3400" dirty="0" smtClean="0">
              <a:solidFill>
                <a:schemeClr val="bg1">
                  <a:lumMod val="50000"/>
                </a:schemeClr>
              </a:solidFill>
              <a:latin typeface="Inter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900" dirty="0" smtClean="0"/>
              <a:t>  56.9% </a:t>
            </a:r>
            <a:r>
              <a:rPr lang="en-US" sz="2900" dirty="0"/>
              <a:t>of inventory priced &lt; ₹15K → strong tilt toward budget segment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900" dirty="0" smtClean="0"/>
              <a:t>  Indicates </a:t>
            </a:r>
            <a:r>
              <a:rPr lang="en-US" sz="2900" dirty="0"/>
              <a:t>high price sensitivity among majority of customers</a:t>
            </a:r>
          </a:p>
          <a:p>
            <a:pPr marL="285750" indent="-285750">
              <a:lnSpc>
                <a:spcPct val="110000"/>
              </a:lnSpc>
              <a:spcBef>
                <a:spcPts val="1200"/>
              </a:spcBef>
              <a:spcAft>
                <a:spcPts val="1000"/>
              </a:spcAft>
              <a:buFont typeface="Wingdings" panose="05000000000000000000" pitchFamily="2" charset="2"/>
              <a:buChar char="ü"/>
              <a:defRPr sz="1600">
                <a:latin typeface="Inter"/>
              </a:defRPr>
            </a:pPr>
            <a:endParaRPr lang="en-US" sz="1800" dirty="0" smtClean="0">
              <a:solidFill>
                <a:srgbClr val="262626"/>
              </a:solidFill>
              <a:latin typeface="Inter"/>
            </a:endParaRPr>
          </a:p>
          <a:p>
            <a:pPr marL="0" indent="0">
              <a:lnSpc>
                <a:spcPct val="110000"/>
              </a:lnSpc>
              <a:spcBef>
                <a:spcPts val="1200"/>
              </a:spcBef>
              <a:spcAft>
                <a:spcPts val="1000"/>
              </a:spcAft>
              <a:buNone/>
              <a:defRPr sz="1600">
                <a:latin typeface="Inter"/>
              </a:defRPr>
            </a:pPr>
            <a:r>
              <a:rPr lang="en-US" sz="3600" dirty="0" smtClean="0">
                <a:solidFill>
                  <a:schemeClr val="bg1">
                    <a:lumMod val="50000"/>
                  </a:schemeClr>
                </a:solidFill>
                <a:latin typeface="Inter"/>
              </a:rPr>
              <a:t>Price Drivers:</a:t>
            </a:r>
            <a:endParaRPr lang="en-US" sz="3600" dirty="0">
              <a:solidFill>
                <a:schemeClr val="bg1">
                  <a:lumMod val="50000"/>
                </a:schemeClr>
              </a:solidFill>
              <a:latin typeface="Bahnschrift Light Condensed" panose="020B0502040204020203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900" b="1" dirty="0" smtClean="0"/>
              <a:t> Hardware </a:t>
            </a:r>
            <a:r>
              <a:rPr lang="en-US" sz="2900" b="1" dirty="0"/>
              <a:t>Score (r = 0.56)</a:t>
            </a:r>
            <a:r>
              <a:rPr lang="en-US" sz="2900" dirty="0"/>
              <a:t> → most </a:t>
            </a:r>
            <a:r>
              <a:rPr lang="en-US" sz="2900" dirty="0" smtClean="0"/>
              <a:t>    influential</a:t>
            </a:r>
            <a:r>
              <a:rPr lang="en-US" sz="2900" dirty="0"/>
              <a:t>, performance specs drive value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US" sz="2900" b="1" dirty="0" smtClean="0"/>
              <a:t>Camera </a:t>
            </a:r>
            <a:r>
              <a:rPr lang="en-US" sz="2900" b="1" dirty="0"/>
              <a:t>Specs (r = 0.48)</a:t>
            </a:r>
            <a:r>
              <a:rPr lang="en-US" sz="2900" dirty="0"/>
              <a:t> → secondary </a:t>
            </a:r>
            <a:r>
              <a:rPr lang="en-US" sz="2900" dirty="0" smtClean="0"/>
              <a:t>    driver</a:t>
            </a:r>
            <a:r>
              <a:rPr lang="en-US" sz="2900" dirty="0"/>
              <a:t>, imaging quality matters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US" sz="2900" b="1" dirty="0" smtClean="0"/>
              <a:t>Screen </a:t>
            </a:r>
            <a:r>
              <a:rPr lang="en-US" sz="2900" b="1" dirty="0"/>
              <a:t>Height (r = 0.18)</a:t>
            </a:r>
            <a:r>
              <a:rPr lang="en-US" sz="2900" dirty="0"/>
              <a:t> → weak correlation, commoditized feature</a:t>
            </a:r>
          </a:p>
          <a:p>
            <a:pPr marL="285750" indent="-285750">
              <a:lnSpc>
                <a:spcPct val="110000"/>
              </a:lnSpc>
              <a:spcBef>
                <a:spcPts val="1200"/>
              </a:spcBef>
              <a:spcAft>
                <a:spcPts val="1000"/>
              </a:spcAft>
              <a:buFont typeface="Wingdings" panose="05000000000000000000" pitchFamily="2" charset="2"/>
              <a:buChar char="ü"/>
              <a:defRPr sz="1600">
                <a:latin typeface="Inter"/>
              </a:defRPr>
            </a:pPr>
            <a:endParaRPr lang="en-US" sz="1800" dirty="0">
              <a:solidFill>
                <a:schemeClr val="tx2">
                  <a:lumMod val="50000"/>
                </a:schemeClr>
              </a:solidFill>
              <a:latin typeface="Bahnschrift Light Condensed" panose="020B0502040204020203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6491" y="1881050"/>
            <a:ext cx="5261916" cy="446749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Inter"/>
              </a:rPr>
              <a:t>Discounting Trend</a:t>
            </a:r>
          </a:p>
          <a:p>
            <a:pPr lvl="0">
              <a:lnSpc>
                <a:spcPct val="65000"/>
              </a:lnSpc>
              <a:buFont typeface="Wingdings" panose="05000000000000000000" pitchFamily="2" charset="2"/>
              <a:buChar char="ü"/>
            </a:pPr>
            <a:r>
              <a:rPr lang="en-US" sz="2000" dirty="0" smtClean="0"/>
              <a:t> Imbalanced </a:t>
            </a:r>
            <a:r>
              <a:rPr lang="en-US" sz="2000" dirty="0"/>
              <a:t>RAM–Memory setups (high RAM, low storage) → discounted by buyers (r = –0.24)</a:t>
            </a:r>
          </a:p>
          <a:p>
            <a:pPr lvl="0">
              <a:lnSpc>
                <a:spcPct val="65000"/>
              </a:lnSpc>
              <a:buFont typeface="Wingdings" panose="05000000000000000000" pitchFamily="2" charset="2"/>
              <a:buChar char="ü"/>
            </a:pPr>
            <a:r>
              <a:rPr lang="en-US" sz="2000" dirty="0" smtClean="0"/>
              <a:t> Customers </a:t>
            </a:r>
            <a:r>
              <a:rPr lang="en-US" sz="2000" dirty="0"/>
              <a:t>penalize bottlenecked configurations</a:t>
            </a:r>
          </a:p>
          <a:p>
            <a:pPr lvl="0"/>
            <a:endParaRPr lang="en-US" sz="2000" dirty="0"/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Inter"/>
              </a:rPr>
              <a:t>Brand Value Concentration</a:t>
            </a:r>
          </a:p>
          <a:p>
            <a:pPr lvl="0">
              <a:lnSpc>
                <a:spcPct val="65000"/>
              </a:lnSpc>
              <a:buFont typeface="Wingdings" panose="05000000000000000000" pitchFamily="2" charset="2"/>
              <a:buChar char="ü"/>
            </a:pPr>
            <a:r>
              <a:rPr lang="en-US" sz="2000" dirty="0" smtClean="0"/>
              <a:t> Realme</a:t>
            </a:r>
            <a:r>
              <a:rPr lang="en-US" sz="2000" dirty="0"/>
              <a:t>, Vivo, Redmi → 42.5% of total value, dominate mid‑range</a:t>
            </a:r>
          </a:p>
          <a:p>
            <a:pPr lvl="0">
              <a:lnSpc>
                <a:spcPct val="65000"/>
              </a:lnSpc>
              <a:buFont typeface="Wingdings" panose="05000000000000000000" pitchFamily="2" charset="2"/>
              <a:buChar char="ü"/>
            </a:pPr>
            <a:r>
              <a:rPr lang="en-US" sz="2000" dirty="0" smtClean="0"/>
              <a:t> Samsung </a:t>
            </a:r>
            <a:r>
              <a:rPr lang="en-US" sz="2000" dirty="0"/>
              <a:t>→ 13% value vs 10% volume → premium perception</a:t>
            </a:r>
          </a:p>
          <a:p>
            <a:pPr>
              <a:lnSpc>
                <a:spcPct val="65000"/>
              </a:lnSpc>
              <a:buFont typeface="Wingdings" panose="05000000000000000000" pitchFamily="2" charset="2"/>
              <a:buChar char="ü"/>
            </a:pPr>
            <a:r>
              <a:rPr lang="en-US" sz="2000" dirty="0" smtClean="0"/>
              <a:t> Apple </a:t>
            </a:r>
            <a:r>
              <a:rPr lang="en-US" sz="2000" dirty="0"/>
              <a:t>→ 3.9% value with &lt;1% volume → niche but high‑value positioning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1450" y="0"/>
            <a:ext cx="590550" cy="6858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05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684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3337" y="1358537"/>
            <a:ext cx="11103427" cy="5708469"/>
          </a:xfrm>
        </p:spPr>
        <p:txBody>
          <a:bodyPr>
            <a:normAutofit fontScale="40000" lnSpcReduction="20000"/>
          </a:bodyPr>
          <a:lstStyle/>
          <a:p>
            <a:r>
              <a:rPr lang="en-US" sz="6700" b="1" dirty="0" smtClean="0">
                <a:solidFill>
                  <a:schemeClr val="bg2"/>
                </a:solidFill>
              </a:rPr>
              <a:t>1.Balanced </a:t>
            </a:r>
            <a:r>
              <a:rPr lang="en-US" sz="6700" b="1" dirty="0">
                <a:solidFill>
                  <a:schemeClr val="bg2"/>
                </a:solidFill>
              </a:rPr>
              <a:t>Hardware Configurations</a:t>
            </a:r>
            <a:endParaRPr lang="en-US" sz="6700" dirty="0">
              <a:solidFill>
                <a:schemeClr val="bg2"/>
              </a:solidFill>
            </a:endParaRPr>
          </a:p>
          <a:p>
            <a:r>
              <a:rPr lang="en-US" sz="5000" i="1" dirty="0"/>
              <a:t>Insight</a:t>
            </a:r>
            <a:r>
              <a:rPr lang="en-US" sz="5000" dirty="0"/>
              <a:t>: Mismatched specs (e.g., 6GB RAM + 32GB storage) frustrate buyers and reduce value.</a:t>
            </a:r>
          </a:p>
          <a:p>
            <a:r>
              <a:rPr lang="en-US" sz="5000" i="1" dirty="0"/>
              <a:t>Strategy</a:t>
            </a:r>
            <a:r>
              <a:rPr lang="en-US" sz="5000" dirty="0"/>
              <a:t>: Scale RAM and storage proportionally (6GB/128GB, 8GB/256GB) to elevate perceived value and boost ASPs.</a:t>
            </a:r>
          </a:p>
          <a:p>
            <a:r>
              <a:rPr lang="en-US" sz="6800" b="1" dirty="0">
                <a:solidFill>
                  <a:schemeClr val="bg2"/>
                </a:solidFill>
              </a:rPr>
              <a:t>2.</a:t>
            </a:r>
            <a:r>
              <a:rPr lang="en-US" sz="5900" b="1" dirty="0" smtClean="0">
                <a:solidFill>
                  <a:schemeClr val="bg2"/>
                </a:solidFill>
              </a:rPr>
              <a:t>Mid-Tier </a:t>
            </a:r>
            <a:r>
              <a:rPr lang="en-US" sz="5900" b="1" dirty="0">
                <a:solidFill>
                  <a:schemeClr val="bg2"/>
                </a:solidFill>
              </a:rPr>
              <a:t>Camera Differentiation</a:t>
            </a:r>
            <a:endParaRPr lang="en-US" sz="5900" dirty="0">
              <a:solidFill>
                <a:schemeClr val="bg2"/>
              </a:solidFill>
            </a:endParaRPr>
          </a:p>
          <a:p>
            <a:r>
              <a:rPr lang="en-US" sz="5000" i="1" dirty="0"/>
              <a:t>Insight</a:t>
            </a:r>
            <a:r>
              <a:rPr lang="en-US" sz="5000" dirty="0"/>
              <a:t>: High megapixels drive premium pricing, but most mid-tier competitors lag in camera specs.</a:t>
            </a:r>
          </a:p>
          <a:p>
            <a:r>
              <a:rPr lang="en-US" sz="5000" i="1" dirty="0"/>
              <a:t>Strategy</a:t>
            </a:r>
            <a:r>
              <a:rPr lang="en-US" sz="5000" dirty="0"/>
              <a:t>: Equip mid-range phones (₹12K–₹20K) with high-end sensors (e.g., 108MP) to maximize margins without costly CPU upgrades</a:t>
            </a:r>
            <a:r>
              <a:rPr lang="en-US" sz="4500" dirty="0"/>
              <a:t>.</a:t>
            </a:r>
          </a:p>
          <a:p>
            <a:r>
              <a:rPr lang="en-US" sz="6800" b="1" dirty="0">
                <a:solidFill>
                  <a:schemeClr val="bg2"/>
                </a:solidFill>
              </a:rPr>
              <a:t>3. </a:t>
            </a:r>
            <a:r>
              <a:rPr lang="en-US" sz="5900" b="1" dirty="0">
                <a:solidFill>
                  <a:schemeClr val="bg2"/>
                </a:solidFill>
              </a:rPr>
              <a:t>Premium Aesthetic Styling</a:t>
            </a:r>
            <a:endParaRPr lang="en-US" sz="5900" dirty="0">
              <a:solidFill>
                <a:schemeClr val="bg2"/>
              </a:solidFill>
            </a:endParaRPr>
          </a:p>
          <a:p>
            <a:r>
              <a:rPr lang="en-US" sz="5000" i="1" dirty="0"/>
              <a:t>Insight</a:t>
            </a:r>
            <a:r>
              <a:rPr lang="en-US" sz="5000" dirty="0"/>
              <a:t>: Color impacts pricing; White leads ASPs at ₹24,524, aligned with flagship models (Samsung, Pixel).</a:t>
            </a:r>
          </a:p>
          <a:p>
            <a:r>
              <a:rPr lang="en-US" sz="5000" i="1" dirty="0"/>
              <a:t>Strategy</a:t>
            </a:r>
            <a:r>
              <a:rPr lang="en-US" sz="5000" dirty="0"/>
              <a:t>: Introduce flagship colors (White, Matte Black) in mid-tier models to charge a psychological “color premium” at zero hardware cost.</a:t>
            </a:r>
          </a:p>
          <a:p>
            <a:r>
              <a:rPr lang="en-US" sz="6000" b="1" dirty="0">
                <a:solidFill>
                  <a:schemeClr val="bg2"/>
                </a:solidFill>
              </a:rPr>
              <a:t>4. </a:t>
            </a:r>
            <a:r>
              <a:rPr lang="en-US" sz="5900" b="1" dirty="0">
                <a:solidFill>
                  <a:schemeClr val="bg2"/>
                </a:solidFill>
              </a:rPr>
              <a:t>Bundles for the Budget </a:t>
            </a:r>
            <a:r>
              <a:rPr lang="en-US" sz="5900" b="1" dirty="0" smtClean="0">
                <a:solidFill>
                  <a:schemeClr val="bg2"/>
                </a:solidFill>
              </a:rPr>
              <a:t>Core</a:t>
            </a:r>
            <a:endParaRPr lang="en-US" sz="5900" dirty="0">
              <a:solidFill>
                <a:schemeClr val="bg2"/>
              </a:solidFill>
            </a:endParaRPr>
          </a:p>
          <a:p>
            <a:r>
              <a:rPr lang="en-US" sz="5000" i="1" dirty="0"/>
              <a:t>Insight</a:t>
            </a:r>
            <a:r>
              <a:rPr lang="en-US" sz="5000" dirty="0"/>
              <a:t>: The under-₹15K segment is hyper-saturated, making up 56.9% of the catalog.</a:t>
            </a:r>
          </a:p>
          <a:p>
            <a:r>
              <a:rPr lang="en-US" sz="5000" i="1" dirty="0"/>
              <a:t>Strategy</a:t>
            </a:r>
            <a:r>
              <a:rPr lang="en-US" sz="5000" dirty="0"/>
              <a:t>: Differentiate by bundling budget phones with fast chargers, premium cases, or screen warranties instead of cutting prices.</a:t>
            </a:r>
          </a:p>
          <a:p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583337" y="404949"/>
            <a:ext cx="10772775" cy="126709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7500" lnSpcReduction="20000"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8800" kern="1200" spc="-12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/>
              <a:t>10.Future </a:t>
            </a:r>
            <a:r>
              <a:rPr lang="en-US" b="1" dirty="0"/>
              <a:t>Strategies to </a:t>
            </a:r>
            <a:r>
              <a:rPr lang="en-US" b="1" dirty="0" smtClean="0"/>
              <a:t>Boost Sales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6764" y="0"/>
            <a:ext cx="505236" cy="6858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053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332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THANK YOU !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54303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etropolitan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1307</TotalTime>
  <Words>1657</Words>
  <Application>Microsoft Office PowerPoint</Application>
  <PresentationFormat>Widescreen</PresentationFormat>
  <Paragraphs>248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0" baseType="lpstr">
      <vt:lpstr>Arial</vt:lpstr>
      <vt:lpstr>Arial Narrow</vt:lpstr>
      <vt:lpstr>Bahnschrift</vt:lpstr>
      <vt:lpstr>Bahnschrift Light Condensed</vt:lpstr>
      <vt:lpstr>Calibri Light</vt:lpstr>
      <vt:lpstr>Inter</vt:lpstr>
      <vt:lpstr>Lato</vt:lpstr>
      <vt:lpstr>Outfit</vt:lpstr>
      <vt:lpstr>Urbanist</vt:lpstr>
      <vt:lpstr>Urbanist ExtraBold</vt:lpstr>
      <vt:lpstr>Wingdings</vt:lpstr>
      <vt:lpstr>Metropolitan</vt:lpstr>
      <vt:lpstr>EDA  and Price Predicting ML model for Mobile Phones</vt:lpstr>
      <vt:lpstr>Executive Project Overview</vt:lpstr>
      <vt:lpstr>1. Executive Introduction &amp;   Data Cleaning</vt:lpstr>
      <vt:lpstr>2. Feature Extraction &amp;           Engineering</vt:lpstr>
      <vt:lpstr>3. Univariate Analysis      Insights </vt:lpstr>
      <vt:lpstr>3. Univariate Analysis      Insights </vt:lpstr>
      <vt:lpstr>4. Bivariate Analysis Insights    Categorical Features</vt:lpstr>
      <vt:lpstr>Market share : Dominant brand</vt:lpstr>
      <vt:lpstr>4. Bivariate Analysis :      Numeric Features</vt:lpstr>
      <vt:lpstr>5. Multivariate Analytical insight :</vt:lpstr>
      <vt:lpstr>6. Outlier Handling: IQR Winsorization</vt:lpstr>
      <vt:lpstr>7. Categorical Feature L  Label Encoding Encoding</vt:lpstr>
      <vt:lpstr>PowerPoint Presentation</vt:lpstr>
      <vt:lpstr>8. Machine Learning  Modeling &amp; Price Prediction</vt:lpstr>
      <vt:lpstr>PowerPoint Presentation</vt:lpstr>
      <vt:lpstr>9. Summary &amp; Conclusions: </vt:lpstr>
      <vt:lpstr>PowerPoint Presentation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Phone Price Prediction</dc:title>
  <dc:creator>admin</dc:creator>
  <cp:lastModifiedBy>admin</cp:lastModifiedBy>
  <cp:revision>116</cp:revision>
  <dcterms:created xsi:type="dcterms:W3CDTF">2026-07-01T13:42:58Z</dcterms:created>
  <dcterms:modified xsi:type="dcterms:W3CDTF">2026-07-05T07:37:55Z</dcterms:modified>
</cp:coreProperties>
</file>